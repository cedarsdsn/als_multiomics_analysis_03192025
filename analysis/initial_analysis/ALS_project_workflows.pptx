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7" r:id="rId4"/>
    <p:sldId id="258" r:id="rId5"/>
    <p:sldId id="259" r:id="rId6"/>
    <p:sldId id="262" r:id="rId7"/>
    <p:sldId id="268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580"/>
  </p:normalViewPr>
  <p:slideViewPr>
    <p:cSldViewPr snapToGrid="0">
      <p:cViewPr varScale="1">
        <p:scale>
          <a:sx n="150" d="100"/>
          <a:sy n="15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2CCB-0C19-C243-B145-A68155F7C117}" type="datetimeFigureOut">
              <a:rPr lang="en-US" smtClean="0"/>
              <a:t>3/18/25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00BE1-D977-854D-92FA-E309D5CDC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00BE1-D977-854D-92FA-E309D5CDCF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0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00BE1-D977-854D-92FA-E309D5CDCF3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36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00BE1-D977-854D-92FA-E309D5CDCF3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46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A87ED-972F-253E-F0CB-0F39D4323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E3E1-A736-2F0A-AF12-5AE2E1438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A3006-633B-9AF4-D232-C1DD5C0F8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905A-7311-CE4F-A490-BBCD28877083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33DAD-2ADD-25EA-FAE6-B60BD2F3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PS: Galaxy not working!!!!!!!!!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76CAB-5AF5-C74F-5B70-A3BC119A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65CF2-B68D-B44B-9E9C-318315C50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6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7F44-4C7E-55B7-A24C-12C7BD4F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F8EC4-9631-8D24-17D0-20C68BF67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4C7FF-698B-30B9-18B1-8E20602E2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905A-7311-CE4F-A490-BBCD28877083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17314-81DA-5B50-F6B5-C8D43347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BDF9B-32A1-36C4-442E-D83528FE5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65CF2-B68D-B44B-9E9C-318315C50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3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25E57-8DB0-31D2-09E1-321797A13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4824F-906F-7400-577D-B52D92B8D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B5270-124E-1A0C-2CEF-3725C803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905A-7311-CE4F-A490-BBCD28877083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1752B-A249-6534-130C-DBBA92F3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871AC-02DE-2851-7B23-A6DF2C2D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65CF2-B68D-B44B-9E9C-318315C50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6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13E6F-2D10-9D7B-CB95-83DE51C7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E0F69-7B8D-2757-14FE-0077D7073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EF275-64B7-3F91-E1EE-ECAF1F946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5BD49-1B5B-62B5-2588-950AB827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905A-7311-CE4F-A490-BBCD28877083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5867D-DFAC-A6F2-7F06-369B7F86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AE1C9-8E6F-5950-0390-88B662E2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65CF2-B68D-B44B-9E9C-318315C50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21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A5CD-7356-F9EA-17CF-58FBE6856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48982-CA87-F573-6E83-293C43259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167E0-D2F8-68C1-501A-25409FA1D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939547-EB62-16E5-A0CB-7B7781CAAB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192154-F90A-7B05-81AC-783C81AB7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90589-A8EB-0E4D-7776-0C51F568D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905A-7311-CE4F-A490-BBCD28877083}" type="datetimeFigureOut">
              <a:rPr lang="en-US" smtClean="0"/>
              <a:t>3/17/25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4902FB-FCAB-AECC-7FC6-87B98B250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A4ACC9-ED71-2C50-09A1-1AACF2B7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65CF2-B68D-B44B-9E9C-318315C50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79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36121-971C-7F6A-6D6D-4D6E866D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58F22-8F97-6277-E0D7-2A0C0A1C5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905A-7311-CE4F-A490-BBCD28877083}" type="datetimeFigureOut">
              <a:rPr lang="en-US" smtClean="0"/>
              <a:t>3/17/25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78B6BB-B3B9-ACFC-5CA8-CB23E079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B4AA3-BF81-1541-BF54-A0D32989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65CF2-B68D-B44B-9E9C-318315C50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19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18CB57-3614-A63E-7BB0-197FD4C86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905A-7311-CE4F-A490-BBCD28877083}" type="datetimeFigureOut">
              <a:rPr lang="en-US" smtClean="0"/>
              <a:t>3/17/25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8B81A7-1543-E53F-972C-58E3B77E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85FAC-6521-D175-1974-099B19DE0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65CF2-B68D-B44B-9E9C-318315C50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9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6C034-1C43-7EF8-6E1A-D069932B5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BF283-D9B8-8901-E28E-09CCF5B88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3C9DF-08FB-019D-0864-DC9043D02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27872-576D-A399-9245-FFCFF79CF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905A-7311-CE4F-A490-BBCD28877083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5C291-1F5A-5857-9B1C-5249F669C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8302D-9F3D-95F7-6C3D-85B83512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65CF2-B68D-B44B-9E9C-318315C50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85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88357-FC69-BC68-023B-358A1302D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0E832C-6AD1-BB27-2298-23A856629B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17931-378B-7731-E6B5-D800B80F4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20607-D756-BB7E-9AD8-CFE86926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905A-7311-CE4F-A490-BBCD28877083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17C0A-0D3A-041B-8C7E-0D9B2BA6F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ABAEA-CA9A-024D-0218-69551311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65CF2-B68D-B44B-9E9C-318315C50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35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4ECC4-FC8C-F21D-5896-9E5A2B43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FA9BF-C2E4-B0D1-ECF5-BD9BC55B7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0CFE7-2C5C-61B1-1DBF-082D7FC27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905A-7311-CE4F-A490-BBCD28877083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2D4C3-44E0-3D6B-6C7A-F84B51A3C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1A7EF-6074-31CD-237D-1D36FAF3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65CF2-B68D-B44B-9E9C-318315C50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59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197968-42F2-B437-8102-3CF7FBB260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E7154-8406-7440-3752-96D0CE069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12AD4-1B25-2763-2446-4B428202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905A-7311-CE4F-A490-BBCD28877083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8D203-72EB-F693-27C3-E996B890B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9879F-7A65-6840-55DA-4EB00422E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65CF2-B68D-B44B-9E9C-318315C50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3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34BE00-DAFE-CBDC-897B-DE089AAAA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ADF8D-BCD4-0BEB-F1AE-02C6D7DB3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7B25A-4111-8419-48C3-E7A0E0E43B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3905A-7311-CE4F-A490-BBCD28877083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555D-02C9-0B3E-E97A-918CDCECC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A7264-85AD-9E5D-2944-EBFBEBDC8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65CF2-B68D-B44B-9E9C-318315C50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0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mine.com/research/" TargetMode="External"/><Relationship Id="rId2" Type="http://schemas.openxmlformats.org/officeDocument/2006/relationships/hyperlink" Target="https://www.ebi.ac.uk/gwas/efotraits/MONDO_000497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ncodeproject.org/publications/de19555b-a49f-471c-bfbc-be3b628fe9bf/" TargetMode="External"/><Relationship Id="rId5" Type="http://schemas.openxmlformats.org/officeDocument/2006/relationships/hyperlink" Target="https://zenodo.org/records/7385500#.Y5csOOzMKBQ" TargetMode="External"/><Relationship Id="rId4" Type="http://schemas.openxmlformats.org/officeDocument/2006/relationships/hyperlink" Target="https://www.ncbi.nlm.nih.gov/gap/advanced_search/?TERM=ALS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70AE-C07B-9825-2D53-8BB61E3A8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ALS project workflow</a:t>
            </a:r>
          </a:p>
        </p:txBody>
      </p:sp>
    </p:spTree>
    <p:extLst>
      <p:ext uri="{BB962C8B-B14F-4D97-AF65-F5344CB8AC3E}">
        <p14:creationId xmlns:p14="http://schemas.microsoft.com/office/powerpoint/2010/main" val="818999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F6514-A257-872E-C144-540ABE5B0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Project Idea 1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4000" dirty="0"/>
              <a:t>Integrating Multi-Omics and Clinical Data to Identify ALS Subtypes and Disease Progression Patterns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7476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own Arrow 19">
            <a:extLst>
              <a:ext uri="{FF2B5EF4-FFF2-40B4-BE49-F238E27FC236}">
                <a16:creationId xmlns:a16="http://schemas.microsoft.com/office/drawing/2014/main" id="{27254CE9-AF4D-A881-96E2-2A14AA2BF53A}"/>
              </a:ext>
            </a:extLst>
          </p:cNvPr>
          <p:cNvSpPr/>
          <p:nvPr/>
        </p:nvSpPr>
        <p:spPr>
          <a:xfrm>
            <a:off x="5214618" y="4498339"/>
            <a:ext cx="208280" cy="497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a 3">
            <a:extLst>
              <a:ext uri="{FF2B5EF4-FFF2-40B4-BE49-F238E27FC236}">
                <a16:creationId xmlns:a16="http://schemas.microsoft.com/office/drawing/2014/main" id="{71E96F64-FC64-F28E-9C39-AF916EFCB8CD}"/>
              </a:ext>
            </a:extLst>
          </p:cNvPr>
          <p:cNvSpPr/>
          <p:nvPr/>
        </p:nvSpPr>
        <p:spPr>
          <a:xfrm>
            <a:off x="3241040" y="269240"/>
            <a:ext cx="2987040" cy="104648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Transcriptomics data *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332754DB-4606-B831-BBE5-59F92705FCC8}"/>
              </a:ext>
            </a:extLst>
          </p:cNvPr>
          <p:cNvSpPr/>
          <p:nvPr/>
        </p:nvSpPr>
        <p:spPr>
          <a:xfrm>
            <a:off x="6441441" y="279400"/>
            <a:ext cx="2560319" cy="104648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Epigenomics data *</a:t>
            </a: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F37AB3C5-58C0-12E8-E703-FD3D6753B5BE}"/>
              </a:ext>
            </a:extLst>
          </p:cNvPr>
          <p:cNvSpPr/>
          <p:nvPr/>
        </p:nvSpPr>
        <p:spPr>
          <a:xfrm>
            <a:off x="9504680" y="279400"/>
            <a:ext cx="2245360" cy="104648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Proteomics data *</a:t>
            </a:r>
          </a:p>
        </p:txBody>
      </p:sp>
      <p:sp>
        <p:nvSpPr>
          <p:cNvPr id="7" name="Process 6">
            <a:extLst>
              <a:ext uri="{FF2B5EF4-FFF2-40B4-BE49-F238E27FC236}">
                <a16:creationId xmlns:a16="http://schemas.microsoft.com/office/drawing/2014/main" id="{A8F3CD4F-E134-5D8A-EFCF-9245F7FA8D00}"/>
              </a:ext>
            </a:extLst>
          </p:cNvPr>
          <p:cNvSpPr/>
          <p:nvPr/>
        </p:nvSpPr>
        <p:spPr>
          <a:xfrm>
            <a:off x="3373120" y="1813560"/>
            <a:ext cx="2021840" cy="78232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 genes b/w progressors</a:t>
            </a:r>
          </a:p>
        </p:txBody>
      </p:sp>
      <p:sp>
        <p:nvSpPr>
          <p:cNvPr id="8" name="Data 7">
            <a:extLst>
              <a:ext uri="{FF2B5EF4-FFF2-40B4-BE49-F238E27FC236}">
                <a16:creationId xmlns:a16="http://schemas.microsoft.com/office/drawing/2014/main" id="{A9A2046A-4E42-1366-6B5E-CF113A82CDC7}"/>
              </a:ext>
            </a:extLst>
          </p:cNvPr>
          <p:cNvSpPr/>
          <p:nvPr/>
        </p:nvSpPr>
        <p:spPr>
          <a:xfrm>
            <a:off x="281937" y="279400"/>
            <a:ext cx="2245360" cy="104648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Clinical data *</a:t>
            </a: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DE98B511-16B5-ABB6-BD82-6A21044701AC}"/>
              </a:ext>
            </a:extLst>
          </p:cNvPr>
          <p:cNvSpPr/>
          <p:nvPr/>
        </p:nvSpPr>
        <p:spPr>
          <a:xfrm>
            <a:off x="6441441" y="1833880"/>
            <a:ext cx="2021840" cy="78232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 peaks b/w progressors</a:t>
            </a: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17B7B330-A3E4-65A8-07A2-816FAEAB6976}"/>
              </a:ext>
            </a:extLst>
          </p:cNvPr>
          <p:cNvSpPr/>
          <p:nvPr/>
        </p:nvSpPr>
        <p:spPr>
          <a:xfrm>
            <a:off x="9519921" y="1813560"/>
            <a:ext cx="2021840" cy="78232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 proteins b/w progressors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5E3ED7F8-1DCB-2C44-8EE9-E3CA173D6CBC}"/>
              </a:ext>
            </a:extLst>
          </p:cNvPr>
          <p:cNvSpPr/>
          <p:nvPr/>
        </p:nvSpPr>
        <p:spPr>
          <a:xfrm>
            <a:off x="4175760" y="1325880"/>
            <a:ext cx="208280" cy="497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3740D06A-17BD-9C30-778D-3119C292028E}"/>
              </a:ext>
            </a:extLst>
          </p:cNvPr>
          <p:cNvSpPr/>
          <p:nvPr/>
        </p:nvSpPr>
        <p:spPr>
          <a:xfrm>
            <a:off x="7244081" y="1346200"/>
            <a:ext cx="208280" cy="497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5D1E0651-EB48-8560-8286-115A38904F00}"/>
              </a:ext>
            </a:extLst>
          </p:cNvPr>
          <p:cNvSpPr/>
          <p:nvPr/>
        </p:nvSpPr>
        <p:spPr>
          <a:xfrm>
            <a:off x="10208262" y="1346200"/>
            <a:ext cx="208280" cy="497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4993A8FD-876F-F859-B4DD-6D8326401933}"/>
              </a:ext>
            </a:extLst>
          </p:cNvPr>
          <p:cNvSpPr/>
          <p:nvPr/>
        </p:nvSpPr>
        <p:spPr>
          <a:xfrm>
            <a:off x="1097280" y="1346200"/>
            <a:ext cx="208280" cy="497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rocess 15">
            <a:extLst>
              <a:ext uri="{FF2B5EF4-FFF2-40B4-BE49-F238E27FC236}">
                <a16:creationId xmlns:a16="http://schemas.microsoft.com/office/drawing/2014/main" id="{E29BB92C-D89B-6A5E-EADE-B4AF9BF3E9E9}"/>
              </a:ext>
            </a:extLst>
          </p:cNvPr>
          <p:cNvSpPr/>
          <p:nvPr/>
        </p:nvSpPr>
        <p:spPr>
          <a:xfrm>
            <a:off x="78737" y="1844040"/>
            <a:ext cx="2448560" cy="89916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Categorize patients into fast and slow progressors</a:t>
            </a:r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73D92401-73A6-A467-E00D-DE3B9D1F1BC0}"/>
              </a:ext>
            </a:extLst>
          </p:cNvPr>
          <p:cNvSpPr/>
          <p:nvPr/>
        </p:nvSpPr>
        <p:spPr>
          <a:xfrm>
            <a:off x="2664458" y="3581214"/>
            <a:ext cx="6029960" cy="104647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Identify Omics Features associated with ALS progression - Spearman Correlation b/w ALSFRS-R and omics data, filter DEGs, DEPs and DARs based on significant association with ALSFRS-R score</a:t>
            </a: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796D6A48-F600-603C-50B8-B7C384E57114}"/>
              </a:ext>
            </a:extLst>
          </p:cNvPr>
          <p:cNvSpPr/>
          <p:nvPr/>
        </p:nvSpPr>
        <p:spPr>
          <a:xfrm>
            <a:off x="3241040" y="4986019"/>
            <a:ext cx="4663440" cy="78232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 Hierarchical clustering on ALS patients based on significant DE features</a:t>
            </a:r>
          </a:p>
        </p:txBody>
      </p:sp>
      <p:sp>
        <p:nvSpPr>
          <p:cNvPr id="21" name="Off-page Connector 20">
            <a:extLst>
              <a:ext uri="{FF2B5EF4-FFF2-40B4-BE49-F238E27FC236}">
                <a16:creationId xmlns:a16="http://schemas.microsoft.com/office/drawing/2014/main" id="{4DBC2724-F34E-B84C-7D89-6740025D5C18}"/>
              </a:ext>
            </a:extLst>
          </p:cNvPr>
          <p:cNvSpPr/>
          <p:nvPr/>
        </p:nvSpPr>
        <p:spPr>
          <a:xfrm>
            <a:off x="4010658" y="6167120"/>
            <a:ext cx="2824480" cy="59944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Connects to next slide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6E03CD0F-4F65-5254-DA66-0C4906B387AF}"/>
              </a:ext>
            </a:extLst>
          </p:cNvPr>
          <p:cNvCxnSpPr>
            <a:stCxn id="16" idx="2"/>
          </p:cNvCxnSpPr>
          <p:nvPr/>
        </p:nvCxnSpPr>
        <p:spPr>
          <a:xfrm rot="16200000" flipH="1">
            <a:off x="1451608" y="2594608"/>
            <a:ext cx="1066800" cy="1363983"/>
          </a:xfrm>
          <a:prstGeom prst="bentConnector2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202C6DBC-3E8B-CB64-AEA7-B13CA683964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94418" y="2616200"/>
            <a:ext cx="1932942" cy="1193800"/>
          </a:xfrm>
          <a:prstGeom prst="bentConnector3">
            <a:avLst>
              <a:gd name="adj1" fmla="val 50000"/>
            </a:avLst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own Arrow 25">
            <a:extLst>
              <a:ext uri="{FF2B5EF4-FFF2-40B4-BE49-F238E27FC236}">
                <a16:creationId xmlns:a16="http://schemas.microsoft.com/office/drawing/2014/main" id="{FC469979-5A72-1B26-2147-C19C4ED64B01}"/>
              </a:ext>
            </a:extLst>
          </p:cNvPr>
          <p:cNvSpPr/>
          <p:nvPr/>
        </p:nvSpPr>
        <p:spPr>
          <a:xfrm>
            <a:off x="4071620" y="2616200"/>
            <a:ext cx="195579" cy="9650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0EDF49A6-BD6C-31A4-76F2-1C5561156CFB}"/>
              </a:ext>
            </a:extLst>
          </p:cNvPr>
          <p:cNvSpPr/>
          <p:nvPr/>
        </p:nvSpPr>
        <p:spPr>
          <a:xfrm>
            <a:off x="7139941" y="2636520"/>
            <a:ext cx="195579" cy="9446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71782D-571F-D233-BCF4-1E71176230AF}"/>
              </a:ext>
            </a:extLst>
          </p:cNvPr>
          <p:cNvSpPr txBox="1"/>
          <p:nvPr/>
        </p:nvSpPr>
        <p:spPr>
          <a:xfrm>
            <a:off x="1097280" y="2918460"/>
            <a:ext cx="883242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Merge DE expressed omics &amp; clinical data into a unified patient-feature matrix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4B1795-5038-6744-B31D-A66199FB5F5C}"/>
              </a:ext>
            </a:extLst>
          </p:cNvPr>
          <p:cNvSpPr txBox="1"/>
          <p:nvPr/>
        </p:nvSpPr>
        <p:spPr>
          <a:xfrm>
            <a:off x="10103275" y="5274495"/>
            <a:ext cx="227923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DEGs </a:t>
            </a:r>
            <a:r>
              <a:rPr lang="en-US" sz="1400" dirty="0"/>
              <a:t>– Differentially expressed genes</a:t>
            </a:r>
          </a:p>
          <a:p>
            <a:r>
              <a:rPr lang="en-US" sz="1400" b="1" dirty="0"/>
              <a:t>DEPs</a:t>
            </a:r>
            <a:r>
              <a:rPr lang="en-US" sz="1400" dirty="0"/>
              <a:t> – Differentially expressed proteins</a:t>
            </a:r>
          </a:p>
          <a:p>
            <a:r>
              <a:rPr lang="en-US" sz="1400" b="1" dirty="0"/>
              <a:t>DARs</a:t>
            </a:r>
            <a:r>
              <a:rPr lang="en-US" sz="1400" dirty="0"/>
              <a:t> – Differentially accessible chromatin regions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86A3D6-49A5-4FA6-C7BB-1AA980BD3F70}"/>
              </a:ext>
            </a:extLst>
          </p:cNvPr>
          <p:cNvSpPr txBox="1"/>
          <p:nvPr/>
        </p:nvSpPr>
        <p:spPr>
          <a:xfrm>
            <a:off x="10056284" y="4905163"/>
            <a:ext cx="6261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* </a:t>
            </a:r>
            <a:r>
              <a:rPr lang="en-US" sz="1400" dirty="0"/>
              <a:t>From </a:t>
            </a:r>
            <a:r>
              <a:rPr lang="en-US" sz="1400" dirty="0" err="1"/>
              <a:t>AnswerALS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711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cess 3">
            <a:extLst>
              <a:ext uri="{FF2B5EF4-FFF2-40B4-BE49-F238E27FC236}">
                <a16:creationId xmlns:a16="http://schemas.microsoft.com/office/drawing/2014/main" id="{A76C36D6-D23A-38FC-73E6-FCFC33D1ED00}"/>
              </a:ext>
            </a:extLst>
          </p:cNvPr>
          <p:cNvSpPr/>
          <p:nvPr/>
        </p:nvSpPr>
        <p:spPr>
          <a:xfrm>
            <a:off x="2479040" y="285751"/>
            <a:ext cx="5791200" cy="63246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Clusters represent different subtypes – Perform an analysis check</a:t>
            </a:r>
          </a:p>
        </p:txBody>
      </p:sp>
      <p:sp>
        <p:nvSpPr>
          <p:cNvPr id="5" name="Decision 4">
            <a:extLst>
              <a:ext uri="{FF2B5EF4-FFF2-40B4-BE49-F238E27FC236}">
                <a16:creationId xmlns:a16="http://schemas.microsoft.com/office/drawing/2014/main" id="{70A7B30A-0348-C63F-CB1B-D08F3D9CB37A}"/>
              </a:ext>
            </a:extLst>
          </p:cNvPr>
          <p:cNvSpPr/>
          <p:nvPr/>
        </p:nvSpPr>
        <p:spPr>
          <a:xfrm>
            <a:off x="1635760" y="918213"/>
            <a:ext cx="3383280" cy="222758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 ALSFRS-R decline scores differ between clusters?</a:t>
            </a:r>
          </a:p>
          <a:p>
            <a:pPr algn="ctr"/>
            <a:endParaRPr lang="en-US" dirty="0"/>
          </a:p>
        </p:txBody>
      </p:sp>
      <p:sp>
        <p:nvSpPr>
          <p:cNvPr id="6" name="Decision 5">
            <a:extLst>
              <a:ext uri="{FF2B5EF4-FFF2-40B4-BE49-F238E27FC236}">
                <a16:creationId xmlns:a16="http://schemas.microsoft.com/office/drawing/2014/main" id="{83733CC9-1BBE-D274-DF1B-87DCEA47F571}"/>
              </a:ext>
            </a:extLst>
          </p:cNvPr>
          <p:cNvSpPr/>
          <p:nvPr/>
        </p:nvSpPr>
        <p:spPr>
          <a:xfrm>
            <a:off x="5130800" y="918213"/>
            <a:ext cx="3383280" cy="229108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 survival rate different between clusters?</a:t>
            </a:r>
          </a:p>
          <a:p>
            <a:pPr algn="ctr"/>
            <a:endParaRPr lang="en-US" dirty="0"/>
          </a:p>
        </p:txBody>
      </p:sp>
      <p:sp>
        <p:nvSpPr>
          <p:cNvPr id="7" name="Process 6">
            <a:extLst>
              <a:ext uri="{FF2B5EF4-FFF2-40B4-BE49-F238E27FC236}">
                <a16:creationId xmlns:a16="http://schemas.microsoft.com/office/drawing/2014/main" id="{157FE06C-7780-ADB7-6CEE-13A3279589E6}"/>
              </a:ext>
            </a:extLst>
          </p:cNvPr>
          <p:cNvSpPr/>
          <p:nvPr/>
        </p:nvSpPr>
        <p:spPr>
          <a:xfrm>
            <a:off x="9413240" y="1833880"/>
            <a:ext cx="2448560" cy="89916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Redo clustering including clinical variables</a:t>
            </a:r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09B3F5F5-048F-5695-4ECD-F46B1C753148}"/>
              </a:ext>
            </a:extLst>
          </p:cNvPr>
          <p:cNvSpPr/>
          <p:nvPr/>
        </p:nvSpPr>
        <p:spPr>
          <a:xfrm>
            <a:off x="2707640" y="3770632"/>
            <a:ext cx="4846320" cy="89916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 GO pathway analysis and functional network visualization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D6C23F49-251A-C6E8-4090-0B493AC11A8B}"/>
              </a:ext>
            </a:extLst>
          </p:cNvPr>
          <p:cNvSpPr/>
          <p:nvPr/>
        </p:nvSpPr>
        <p:spPr>
          <a:xfrm>
            <a:off x="3261360" y="3145793"/>
            <a:ext cx="152400" cy="6248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144DBFBD-2557-E66F-6FFF-8B835EA2979D}"/>
              </a:ext>
            </a:extLst>
          </p:cNvPr>
          <p:cNvSpPr/>
          <p:nvPr/>
        </p:nvSpPr>
        <p:spPr>
          <a:xfrm>
            <a:off x="6746240" y="3133092"/>
            <a:ext cx="152400" cy="6248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970551AB-24E4-B490-437B-70E192F94DD1}"/>
              </a:ext>
            </a:extLst>
          </p:cNvPr>
          <p:cNvSpPr/>
          <p:nvPr/>
        </p:nvSpPr>
        <p:spPr>
          <a:xfrm>
            <a:off x="8514080" y="1967233"/>
            <a:ext cx="899160" cy="193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CBF0D0BC-32E3-982D-09EB-796C85CB9BA0}"/>
              </a:ext>
            </a:extLst>
          </p:cNvPr>
          <p:cNvCxnSpPr>
            <a:cxnSpLocks/>
          </p:cNvCxnSpPr>
          <p:nvPr/>
        </p:nvCxnSpPr>
        <p:spPr>
          <a:xfrm rot="10800000">
            <a:off x="8270240" y="586745"/>
            <a:ext cx="2286000" cy="1231898"/>
          </a:xfrm>
          <a:prstGeom prst="bentConnector3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91EB13-54C4-7720-C825-8585CEF0A84E}"/>
              </a:ext>
            </a:extLst>
          </p:cNvPr>
          <p:cNvSpPr txBox="1"/>
          <p:nvPr/>
        </p:nvSpPr>
        <p:spPr>
          <a:xfrm>
            <a:off x="2712720" y="3226041"/>
            <a:ext cx="70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EC9B06-B204-5BBD-3688-E2D30F50694F}"/>
              </a:ext>
            </a:extLst>
          </p:cNvPr>
          <p:cNvSpPr txBox="1"/>
          <p:nvPr/>
        </p:nvSpPr>
        <p:spPr>
          <a:xfrm>
            <a:off x="6014720" y="3260845"/>
            <a:ext cx="70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7BAF11-2324-804E-0437-D6DE08AA4F4D}"/>
              </a:ext>
            </a:extLst>
          </p:cNvPr>
          <p:cNvSpPr txBox="1"/>
          <p:nvPr/>
        </p:nvSpPr>
        <p:spPr>
          <a:xfrm>
            <a:off x="8636000" y="2158488"/>
            <a:ext cx="70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</a:t>
            </a:r>
          </a:p>
        </p:txBody>
      </p:sp>
      <p:sp>
        <p:nvSpPr>
          <p:cNvPr id="19" name="Terminator 18">
            <a:extLst>
              <a:ext uri="{FF2B5EF4-FFF2-40B4-BE49-F238E27FC236}">
                <a16:creationId xmlns:a16="http://schemas.microsoft.com/office/drawing/2014/main" id="{0E481B61-12EC-5EDB-4982-620465852173}"/>
              </a:ext>
            </a:extLst>
          </p:cNvPr>
          <p:cNvSpPr/>
          <p:nvPr/>
        </p:nvSpPr>
        <p:spPr>
          <a:xfrm>
            <a:off x="2910840" y="5177274"/>
            <a:ext cx="4216400" cy="1433076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ALS Biomarker Identification</a:t>
            </a:r>
            <a:br>
              <a:rPr lang="en-US" dirty="0"/>
            </a:br>
            <a:r>
              <a:rPr lang="en-US" dirty="0"/>
              <a:t>Patient Subtyping &amp; Disease Progression</a:t>
            </a:r>
            <a:br>
              <a:rPr lang="en-US" dirty="0"/>
            </a:br>
            <a:r>
              <a:rPr lang="en-US" dirty="0"/>
              <a:t> Pathway &amp; Mechanism Discovery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2A71364D-69BD-0B52-85F8-C8F654D9D70F}"/>
              </a:ext>
            </a:extLst>
          </p:cNvPr>
          <p:cNvSpPr/>
          <p:nvPr/>
        </p:nvSpPr>
        <p:spPr>
          <a:xfrm>
            <a:off x="4866640" y="4657847"/>
            <a:ext cx="152400" cy="5194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rocess 20">
            <a:extLst>
              <a:ext uri="{FF2B5EF4-FFF2-40B4-BE49-F238E27FC236}">
                <a16:creationId xmlns:a16="http://schemas.microsoft.com/office/drawing/2014/main" id="{FFD10E7B-F05F-C682-7BFF-62693946D611}"/>
              </a:ext>
            </a:extLst>
          </p:cNvPr>
          <p:cNvSpPr/>
          <p:nvPr/>
        </p:nvSpPr>
        <p:spPr>
          <a:xfrm>
            <a:off x="7371080" y="2743203"/>
            <a:ext cx="1965960" cy="852170"/>
          </a:xfrm>
          <a:prstGeom prst="flowChartProcess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 - Survival analysis will be conducted</a:t>
            </a:r>
          </a:p>
        </p:txBody>
      </p:sp>
    </p:spTree>
    <p:extLst>
      <p:ext uri="{BB962C8B-B14F-4D97-AF65-F5344CB8AC3E}">
        <p14:creationId xmlns:p14="http://schemas.microsoft.com/office/powerpoint/2010/main" val="2309663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CEDC-6D11-E015-0455-C84190E2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request access to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16875-F023-05BB-1B14-EF2B85D68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Names and email addresses of applicant and PI</a:t>
            </a:r>
          </a:p>
          <a:p>
            <a:r>
              <a:rPr lang="en-US" dirty="0"/>
              <a:t>A Business Official (we need to contact the contracts office to identify this person)</a:t>
            </a:r>
          </a:p>
          <a:p>
            <a:r>
              <a:rPr lang="en-US" dirty="0"/>
              <a:t>Proposed analyses</a:t>
            </a:r>
          </a:p>
          <a:p>
            <a:r>
              <a:rPr lang="en-US" dirty="0"/>
              <a:t>Project Timeframe</a:t>
            </a:r>
          </a:p>
          <a:p>
            <a:r>
              <a:rPr lang="en-US" dirty="0"/>
              <a:t>Data types and levels interested in</a:t>
            </a:r>
          </a:p>
          <a:p>
            <a:r>
              <a:rPr lang="en-US" dirty="0"/>
              <a:t>Names and email addresses of any collaborators</a:t>
            </a:r>
          </a:p>
          <a:p>
            <a:r>
              <a:rPr lang="en-US" dirty="0"/>
              <a:t>Read and agree to Data User Code of Conduct</a:t>
            </a:r>
          </a:p>
        </p:txBody>
      </p:sp>
    </p:spTree>
    <p:extLst>
      <p:ext uri="{BB962C8B-B14F-4D97-AF65-F5344CB8AC3E}">
        <p14:creationId xmlns:p14="http://schemas.microsoft.com/office/powerpoint/2010/main" val="270153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C824-214E-D781-5FF0-9292E55A8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15A4B-E3BF-9C92-74EF-4279F280F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694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Level 1</a:t>
            </a:r>
          </a:p>
          <a:p>
            <a:pPr lvl="1"/>
            <a:r>
              <a:rPr lang="en-US" dirty="0"/>
              <a:t>FASTQ files</a:t>
            </a:r>
          </a:p>
          <a:p>
            <a:pPr lvl="1"/>
            <a:r>
              <a:rPr lang="en-US" dirty="0"/>
              <a:t>WIFF files</a:t>
            </a:r>
          </a:p>
          <a:p>
            <a:r>
              <a:rPr lang="en-US" dirty="0"/>
              <a:t>Level 2</a:t>
            </a:r>
          </a:p>
          <a:p>
            <a:pPr lvl="1"/>
            <a:r>
              <a:rPr lang="en-US" dirty="0"/>
              <a:t>CRAM files </a:t>
            </a:r>
          </a:p>
          <a:p>
            <a:pPr lvl="1"/>
            <a:r>
              <a:rPr lang="en-US" dirty="0"/>
              <a:t>BAM files </a:t>
            </a:r>
          </a:p>
          <a:p>
            <a:pPr lvl="1"/>
            <a:r>
              <a:rPr lang="en-US" dirty="0" err="1"/>
              <a:t>mzML</a:t>
            </a:r>
            <a:r>
              <a:rPr lang="en-US" dirty="0"/>
              <a:t> </a:t>
            </a:r>
          </a:p>
          <a:p>
            <a:r>
              <a:rPr lang="en-US" dirty="0"/>
              <a:t>Level 3</a:t>
            </a:r>
          </a:p>
          <a:p>
            <a:pPr lvl="1"/>
            <a:r>
              <a:rPr lang="en-US" dirty="0"/>
              <a:t>VCF (Genomics)</a:t>
            </a:r>
          </a:p>
          <a:p>
            <a:pPr lvl="1"/>
            <a:r>
              <a:rPr lang="en-US" dirty="0"/>
              <a:t>Peaks (Epigenomics)</a:t>
            </a:r>
          </a:p>
          <a:p>
            <a:pPr lvl="1"/>
            <a:r>
              <a:rPr lang="en-US" dirty="0"/>
              <a:t>Counts (Transcriptomics)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1DED02-AE6B-AC88-3B00-4AC12F480825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49772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Level 4</a:t>
            </a:r>
          </a:p>
          <a:p>
            <a:pPr lvl="1"/>
            <a:r>
              <a:rPr lang="en-US" dirty="0"/>
              <a:t>Joint VCF (Genomics)</a:t>
            </a:r>
          </a:p>
          <a:p>
            <a:pPr lvl="1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Matrix of Consensus peaks</a:t>
            </a:r>
          </a:p>
          <a:p>
            <a:pPr lvl="1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Matrix of Counts</a:t>
            </a:r>
          </a:p>
          <a:p>
            <a:pPr lvl="1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Matrix of Intensities</a:t>
            </a:r>
          </a:p>
          <a:p>
            <a:r>
              <a:rPr lang="en-US" dirty="0"/>
              <a:t>Level 5</a:t>
            </a:r>
          </a:p>
          <a:p>
            <a:pPr lvl="1"/>
            <a:r>
              <a:rPr lang="en-US" dirty="0"/>
              <a:t>Differential Peaks</a:t>
            </a:r>
          </a:p>
          <a:p>
            <a:pPr lvl="1"/>
            <a:r>
              <a:rPr lang="en-US" dirty="0"/>
              <a:t>Differential Genes </a:t>
            </a:r>
          </a:p>
          <a:p>
            <a:pPr lvl="1"/>
            <a:r>
              <a:rPr lang="en-US" dirty="0"/>
              <a:t>Differential Proteins</a:t>
            </a:r>
          </a:p>
        </p:txBody>
      </p:sp>
    </p:spTree>
    <p:extLst>
      <p:ext uri="{BB962C8B-B14F-4D97-AF65-F5344CB8AC3E}">
        <p14:creationId xmlns:p14="http://schemas.microsoft.com/office/powerpoint/2010/main" val="1362972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77998-1C15-0E38-700E-2EFA732AA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A9FAE-C07C-0882-A831-4107D7BDE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Project Idea 2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4000" dirty="0"/>
              <a:t>Polygenic Risk Scores for ALS: Integrating Multi-Omics Data to Uncover Genetic Risk and Disease Mechanisms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490144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a 3">
            <a:extLst>
              <a:ext uri="{FF2B5EF4-FFF2-40B4-BE49-F238E27FC236}">
                <a16:creationId xmlns:a16="http://schemas.microsoft.com/office/drawing/2014/main" id="{2B21CF4B-BDF9-9FA7-BD67-0DF5CD17A168}"/>
              </a:ext>
            </a:extLst>
          </p:cNvPr>
          <p:cNvSpPr/>
          <p:nvPr/>
        </p:nvSpPr>
        <p:spPr>
          <a:xfrm>
            <a:off x="6004560" y="127000"/>
            <a:ext cx="2245360" cy="104648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Genomics data *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7186CC49-C459-3996-C347-6180DC4F9957}"/>
              </a:ext>
            </a:extLst>
          </p:cNvPr>
          <p:cNvSpPr/>
          <p:nvPr/>
        </p:nvSpPr>
        <p:spPr>
          <a:xfrm>
            <a:off x="3192774" y="142240"/>
            <a:ext cx="2522226" cy="104648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GWAS summary statistics for ALS</a:t>
            </a:r>
          </a:p>
        </p:txBody>
      </p:sp>
      <p:sp>
        <p:nvSpPr>
          <p:cNvPr id="6" name="Process 5">
            <a:extLst>
              <a:ext uri="{FF2B5EF4-FFF2-40B4-BE49-F238E27FC236}">
                <a16:creationId xmlns:a16="http://schemas.microsoft.com/office/drawing/2014/main" id="{00FD11F4-CD5B-14E2-14C5-9FEC26BCE411}"/>
              </a:ext>
            </a:extLst>
          </p:cNvPr>
          <p:cNvSpPr/>
          <p:nvPr/>
        </p:nvSpPr>
        <p:spPr>
          <a:xfrm>
            <a:off x="3258817" y="1661160"/>
            <a:ext cx="2021840" cy="78232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Filtered SNPs with significance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7DFD34C1-877F-F814-131A-1068BDA73B76}"/>
              </a:ext>
            </a:extLst>
          </p:cNvPr>
          <p:cNvSpPr/>
          <p:nvPr/>
        </p:nvSpPr>
        <p:spPr>
          <a:xfrm>
            <a:off x="4061457" y="1173480"/>
            <a:ext cx="208280" cy="497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E2C8223D-72D6-C475-C1FA-9011DF1008BF}"/>
              </a:ext>
            </a:extLst>
          </p:cNvPr>
          <p:cNvSpPr/>
          <p:nvPr/>
        </p:nvSpPr>
        <p:spPr>
          <a:xfrm>
            <a:off x="5910577" y="1661160"/>
            <a:ext cx="2021840" cy="78232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SNPs from </a:t>
            </a:r>
            <a:r>
              <a:rPr lang="en-US" dirty="0" err="1"/>
              <a:t>AnswerALS</a:t>
            </a:r>
            <a:endParaRPr lang="en-US" dirty="0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141A52F1-D364-8074-1700-38FBDCE3F50A}"/>
              </a:ext>
            </a:extLst>
          </p:cNvPr>
          <p:cNvSpPr/>
          <p:nvPr/>
        </p:nvSpPr>
        <p:spPr>
          <a:xfrm>
            <a:off x="6817357" y="1173480"/>
            <a:ext cx="208280" cy="497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a 10">
            <a:extLst>
              <a:ext uri="{FF2B5EF4-FFF2-40B4-BE49-F238E27FC236}">
                <a16:creationId xmlns:a16="http://schemas.microsoft.com/office/drawing/2014/main" id="{3440194A-8891-1D0B-9CC7-E86DA470EF67}"/>
              </a:ext>
            </a:extLst>
          </p:cNvPr>
          <p:cNvSpPr/>
          <p:nvPr/>
        </p:nvSpPr>
        <p:spPr>
          <a:xfrm>
            <a:off x="4249417" y="2620009"/>
            <a:ext cx="2522226" cy="86868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SNPS which are common to both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78A8A462-F0C6-90FF-B8BD-F5BDC071B5D7}"/>
              </a:ext>
            </a:extLst>
          </p:cNvPr>
          <p:cNvCxnSpPr>
            <a:stCxn id="6" idx="2"/>
            <a:endCxn id="11" idx="2"/>
          </p:cNvCxnSpPr>
          <p:nvPr/>
        </p:nvCxnSpPr>
        <p:spPr>
          <a:xfrm rot="16200000" flipH="1">
            <a:off x="4080254" y="2632962"/>
            <a:ext cx="610869" cy="231903"/>
          </a:xfrm>
          <a:prstGeom prst="bentConnector4">
            <a:avLst>
              <a:gd name="adj1" fmla="val 14449"/>
              <a:gd name="adj2" fmla="val 1424"/>
            </a:avLst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BE8F62B1-3887-4C9A-3AF9-13D5713319E7}"/>
              </a:ext>
            </a:extLst>
          </p:cNvPr>
          <p:cNvCxnSpPr>
            <a:cxnSpLocks/>
            <a:endCxn id="11" idx="5"/>
          </p:cNvCxnSpPr>
          <p:nvPr/>
        </p:nvCxnSpPr>
        <p:spPr>
          <a:xfrm rot="5400000">
            <a:off x="6510276" y="2452625"/>
            <a:ext cx="610868" cy="592580"/>
          </a:xfrm>
          <a:prstGeom prst="bentConnector2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cess 15">
            <a:extLst>
              <a:ext uri="{FF2B5EF4-FFF2-40B4-BE49-F238E27FC236}">
                <a16:creationId xmlns:a16="http://schemas.microsoft.com/office/drawing/2014/main" id="{43E1C1C9-0DC5-9033-4165-FE2331B891EE}"/>
              </a:ext>
            </a:extLst>
          </p:cNvPr>
          <p:cNvSpPr/>
          <p:nvPr/>
        </p:nvSpPr>
        <p:spPr>
          <a:xfrm>
            <a:off x="4290057" y="3986530"/>
            <a:ext cx="2021840" cy="78232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 PRS score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0BC8B2D1-1270-2CD9-4CCC-82CA73236903}"/>
              </a:ext>
            </a:extLst>
          </p:cNvPr>
          <p:cNvSpPr/>
          <p:nvPr/>
        </p:nvSpPr>
        <p:spPr>
          <a:xfrm>
            <a:off x="5092697" y="3488689"/>
            <a:ext cx="208280" cy="497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312A5BB9-AB08-4B2F-841A-B3B1B7674DE2}"/>
              </a:ext>
            </a:extLst>
          </p:cNvPr>
          <p:cNvSpPr/>
          <p:nvPr/>
        </p:nvSpPr>
        <p:spPr>
          <a:xfrm>
            <a:off x="5092697" y="4786631"/>
            <a:ext cx="208280" cy="497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ff-page Connector 20">
            <a:extLst>
              <a:ext uri="{FF2B5EF4-FFF2-40B4-BE49-F238E27FC236}">
                <a16:creationId xmlns:a16="http://schemas.microsoft.com/office/drawing/2014/main" id="{9127233E-E800-5872-F01E-0B8E9DE03B4C}"/>
              </a:ext>
            </a:extLst>
          </p:cNvPr>
          <p:cNvSpPr/>
          <p:nvPr/>
        </p:nvSpPr>
        <p:spPr>
          <a:xfrm>
            <a:off x="3947163" y="6258560"/>
            <a:ext cx="2824480" cy="59944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Connects to next slide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51BD02-4AE0-09AC-1463-FB1ECD7BE15E}"/>
              </a:ext>
            </a:extLst>
          </p:cNvPr>
          <p:cNvSpPr txBox="1"/>
          <p:nvPr/>
        </p:nvSpPr>
        <p:spPr>
          <a:xfrm>
            <a:off x="10295466" y="647984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* From </a:t>
            </a:r>
            <a:r>
              <a:rPr lang="en-US" sz="1400" dirty="0" err="1"/>
              <a:t>AnswerALS</a:t>
            </a:r>
            <a:endParaRPr 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064969-DCC4-5859-D303-8240BF02DC65}"/>
              </a:ext>
            </a:extLst>
          </p:cNvPr>
          <p:cNvSpPr txBox="1"/>
          <p:nvPr/>
        </p:nvSpPr>
        <p:spPr>
          <a:xfrm>
            <a:off x="3915882" y="5276651"/>
            <a:ext cx="2953173" cy="9325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Merge PRS scores with transcriptomic and proteomic data</a:t>
            </a:r>
          </a:p>
        </p:txBody>
      </p:sp>
    </p:spTree>
    <p:extLst>
      <p:ext uri="{BB962C8B-B14F-4D97-AF65-F5344CB8AC3E}">
        <p14:creationId xmlns:p14="http://schemas.microsoft.com/office/powerpoint/2010/main" val="1813136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cess 3">
            <a:extLst>
              <a:ext uri="{FF2B5EF4-FFF2-40B4-BE49-F238E27FC236}">
                <a16:creationId xmlns:a16="http://schemas.microsoft.com/office/drawing/2014/main" id="{E03BA421-D0AD-92A4-F5D7-9CCB7080D22F}"/>
              </a:ext>
            </a:extLst>
          </p:cNvPr>
          <p:cNvSpPr/>
          <p:nvPr/>
        </p:nvSpPr>
        <p:spPr>
          <a:xfrm>
            <a:off x="6610775" y="337498"/>
            <a:ext cx="3962820" cy="52504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 survival analysis and check correlation with PRS score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6AA3A8DF-8355-D101-674D-8B72F376A662}"/>
              </a:ext>
            </a:extLst>
          </p:cNvPr>
          <p:cNvSpPr/>
          <p:nvPr/>
        </p:nvSpPr>
        <p:spPr>
          <a:xfrm>
            <a:off x="63497" y="2378887"/>
            <a:ext cx="3032754" cy="104648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Transcriptomics data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5139C644-8A11-C20A-0C86-EA973A0C0042}"/>
              </a:ext>
            </a:extLst>
          </p:cNvPr>
          <p:cNvSpPr/>
          <p:nvPr/>
        </p:nvSpPr>
        <p:spPr>
          <a:xfrm>
            <a:off x="2783834" y="2885370"/>
            <a:ext cx="762000" cy="147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a 7">
            <a:extLst>
              <a:ext uri="{FF2B5EF4-FFF2-40B4-BE49-F238E27FC236}">
                <a16:creationId xmlns:a16="http://schemas.microsoft.com/office/drawing/2014/main" id="{8C3D53FB-DF61-92CF-94BB-80E5CEEF16C2}"/>
              </a:ext>
            </a:extLst>
          </p:cNvPr>
          <p:cNvSpPr/>
          <p:nvPr/>
        </p:nvSpPr>
        <p:spPr>
          <a:xfrm>
            <a:off x="9159246" y="2378887"/>
            <a:ext cx="3032754" cy="104648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Proteomics data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F0886C03-61E8-AC65-871F-02E757CB0E7C}"/>
              </a:ext>
            </a:extLst>
          </p:cNvPr>
          <p:cNvSpPr/>
          <p:nvPr/>
        </p:nvSpPr>
        <p:spPr>
          <a:xfrm flipH="1">
            <a:off x="8630920" y="2862510"/>
            <a:ext cx="787400" cy="172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69B7B23D-E3E6-2863-F68F-0D10354EA210}"/>
              </a:ext>
            </a:extLst>
          </p:cNvPr>
          <p:cNvSpPr/>
          <p:nvPr/>
        </p:nvSpPr>
        <p:spPr>
          <a:xfrm>
            <a:off x="4343396" y="3973195"/>
            <a:ext cx="3647449" cy="118745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 GO analysis and functional network visualization on PRS associated genes/proteins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26D66A8E-912B-CD7C-1F86-04A08549BD1C}"/>
              </a:ext>
            </a:extLst>
          </p:cNvPr>
          <p:cNvSpPr/>
          <p:nvPr/>
        </p:nvSpPr>
        <p:spPr>
          <a:xfrm>
            <a:off x="4815837" y="3423919"/>
            <a:ext cx="101600" cy="5492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6620FE05-37AE-6974-67BA-64064B873911}"/>
              </a:ext>
            </a:extLst>
          </p:cNvPr>
          <p:cNvSpPr/>
          <p:nvPr/>
        </p:nvSpPr>
        <p:spPr>
          <a:xfrm>
            <a:off x="7038343" y="3423919"/>
            <a:ext cx="101600" cy="5492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rminator 14">
            <a:extLst>
              <a:ext uri="{FF2B5EF4-FFF2-40B4-BE49-F238E27FC236}">
                <a16:creationId xmlns:a16="http://schemas.microsoft.com/office/drawing/2014/main" id="{36AC4DD2-C006-C4E8-996C-6EECC1B4984D}"/>
              </a:ext>
            </a:extLst>
          </p:cNvPr>
          <p:cNvSpPr/>
          <p:nvPr/>
        </p:nvSpPr>
        <p:spPr>
          <a:xfrm>
            <a:off x="3332474" y="5544503"/>
            <a:ext cx="6085846" cy="1187451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ALS-relevant PRS-associated genes, proteins, and pathways</a:t>
            </a:r>
            <a:br>
              <a:rPr lang="en-US" dirty="0"/>
            </a:br>
            <a:r>
              <a:rPr lang="en-US" dirty="0"/>
              <a:t>Correlation between PRS and ALSFRS-R score and survival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74CB6FCA-EE09-C59E-BBB9-9388C2B7FB6D}"/>
              </a:ext>
            </a:extLst>
          </p:cNvPr>
          <p:cNvSpPr/>
          <p:nvPr/>
        </p:nvSpPr>
        <p:spPr>
          <a:xfrm>
            <a:off x="5994400" y="5140961"/>
            <a:ext cx="101600" cy="4041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CFEFCD2A-0C4E-68CE-4348-4DAD1B8F1DE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578767" y="1432732"/>
            <a:ext cx="1410550" cy="944886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65BB892C-7BF5-FE0D-3442-F709590602A2}"/>
              </a:ext>
            </a:extLst>
          </p:cNvPr>
          <p:cNvCxnSpPr>
            <a:cxnSpLocks/>
            <a:endCxn id="9" idx="0"/>
          </p:cNvCxnSpPr>
          <p:nvPr/>
        </p:nvCxnSpPr>
        <p:spPr>
          <a:xfrm rot="5400000">
            <a:off x="6740901" y="1595384"/>
            <a:ext cx="1466526" cy="53762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15BE5C3-62A3-8FDE-1CA0-C7E0D89EF4F2}"/>
              </a:ext>
            </a:extLst>
          </p:cNvPr>
          <p:cNvSpPr txBox="1"/>
          <p:nvPr/>
        </p:nvSpPr>
        <p:spPr>
          <a:xfrm>
            <a:off x="3602566" y="1203554"/>
            <a:ext cx="6104466" cy="7555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Filter genes and proteins that show significant correlation with PRS and ALS clinical measures </a:t>
            </a:r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7521D49F-CC16-23C4-2950-20A2D730F5FC}"/>
              </a:ext>
            </a:extLst>
          </p:cNvPr>
          <p:cNvSpPr/>
          <p:nvPr/>
        </p:nvSpPr>
        <p:spPr>
          <a:xfrm>
            <a:off x="4515804" y="819698"/>
            <a:ext cx="122552" cy="3657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6EB98253-FFE8-48F2-E6B6-6F7ABC637036}"/>
              </a:ext>
            </a:extLst>
          </p:cNvPr>
          <p:cNvSpPr/>
          <p:nvPr/>
        </p:nvSpPr>
        <p:spPr>
          <a:xfrm>
            <a:off x="3423921" y="346605"/>
            <a:ext cx="2863424" cy="50619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correlation with ALSFRS-R score</a:t>
            </a:r>
          </a:p>
        </p:txBody>
      </p:sp>
      <p:sp>
        <p:nvSpPr>
          <p:cNvPr id="32" name="Down Arrow 31">
            <a:extLst>
              <a:ext uri="{FF2B5EF4-FFF2-40B4-BE49-F238E27FC236}">
                <a16:creationId xmlns:a16="http://schemas.microsoft.com/office/drawing/2014/main" id="{21D12ACA-9B3F-086E-CC52-CD767E7D96B7}"/>
              </a:ext>
            </a:extLst>
          </p:cNvPr>
          <p:cNvSpPr/>
          <p:nvPr/>
        </p:nvSpPr>
        <p:spPr>
          <a:xfrm>
            <a:off x="7439769" y="867925"/>
            <a:ext cx="122553" cy="332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rocess 6">
            <a:extLst>
              <a:ext uri="{FF2B5EF4-FFF2-40B4-BE49-F238E27FC236}">
                <a16:creationId xmlns:a16="http://schemas.microsoft.com/office/drawing/2014/main" id="{D500AC65-352C-1081-C1E1-701F9146A65E}"/>
              </a:ext>
            </a:extLst>
          </p:cNvPr>
          <p:cNvSpPr/>
          <p:nvPr/>
        </p:nvSpPr>
        <p:spPr>
          <a:xfrm>
            <a:off x="3545834" y="2367279"/>
            <a:ext cx="2448566" cy="118745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eQTL</a:t>
            </a:r>
            <a:r>
              <a:rPr lang="en-US" dirty="0"/>
              <a:t> analysis (PRS SNPs are tested for their effect on gene expression)</a:t>
            </a: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735E47DE-2528-08C3-5209-ABF23E80506B}"/>
              </a:ext>
            </a:extLst>
          </p:cNvPr>
          <p:cNvSpPr/>
          <p:nvPr/>
        </p:nvSpPr>
        <p:spPr>
          <a:xfrm>
            <a:off x="6223000" y="2355528"/>
            <a:ext cx="2448566" cy="120954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pQTL</a:t>
            </a:r>
            <a:r>
              <a:rPr lang="en-US" dirty="0"/>
              <a:t> analysis (PRS SNPs are tested for their effect on protein expression)</a:t>
            </a:r>
          </a:p>
        </p:txBody>
      </p:sp>
    </p:spTree>
    <p:extLst>
      <p:ext uri="{BB962C8B-B14F-4D97-AF65-F5344CB8AC3E}">
        <p14:creationId xmlns:p14="http://schemas.microsoft.com/office/powerpoint/2010/main" val="3971132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D5D88-A11F-8E9B-D8B0-D3FD06E45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GWAS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E70D3-19CA-B8F5-F778-E2FA73FF2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https://www.ebi.ac.uk/gwas/efotraits/MONDO_0004976</a:t>
            </a:r>
            <a:endParaRPr lang="en-US" dirty="0"/>
          </a:p>
          <a:p>
            <a:r>
              <a:rPr lang="en-US" dirty="0">
                <a:hlinkClick r:id="rId3"/>
              </a:rPr>
              <a:t>https://projectmine.com/research/</a:t>
            </a:r>
            <a:endParaRPr lang="en-US" dirty="0"/>
          </a:p>
          <a:p>
            <a:r>
              <a:rPr lang="en-US" dirty="0" err="1"/>
              <a:t>dbGAP</a:t>
            </a:r>
            <a:r>
              <a:rPr lang="en-US" dirty="0"/>
              <a:t> - </a:t>
            </a:r>
            <a:r>
              <a:rPr lang="en-US" dirty="0">
                <a:hlinkClick r:id="rId4"/>
              </a:rPr>
              <a:t>https://www.ncbi.nlm.nih.gov/gap/advanced_search/?TERM=ALS</a:t>
            </a:r>
            <a:endParaRPr lang="en-US" dirty="0"/>
          </a:p>
          <a:p>
            <a:r>
              <a:rPr lang="en-US" dirty="0"/>
              <a:t>Specific publications </a:t>
            </a:r>
          </a:p>
          <a:p>
            <a:pPr lvl="1"/>
            <a:r>
              <a:rPr lang="en-US" dirty="0">
                <a:hlinkClick r:id="rId5"/>
              </a:rPr>
              <a:t>https://zenodo.org/records/7385500#.Y5csOOzMKBQ</a:t>
            </a:r>
            <a:endParaRPr lang="en-US" dirty="0"/>
          </a:p>
          <a:p>
            <a:pPr lvl="1"/>
            <a:r>
              <a:rPr lang="en-US" b="0" i="0" u="sng" dirty="0">
                <a:solidFill>
                  <a:srgbClr val="005EA2"/>
                </a:solidFill>
                <a:effectLst/>
                <a:latin typeface="Cambria" panose="02040503050406030204" pitchFamily="18" charset="0"/>
                <a:hlinkClick r:id="rId6"/>
              </a:rPr>
              <a:t>https://www.encodeproject.org/publications/de19555b-a49f-471c-bfbc-be3b628fe9bf/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372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255EB-6A64-DB49-4F6A-A3781C49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2875"/>
            <a:ext cx="10515600" cy="1325563"/>
          </a:xfrm>
        </p:spPr>
        <p:txBody>
          <a:bodyPr/>
          <a:lstStyle/>
          <a:p>
            <a:r>
              <a:rPr lang="en-US" dirty="0"/>
              <a:t>Proposed Timeframes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BF1204-6545-E90C-D0DB-D8434087F4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891757"/>
              </p:ext>
            </p:extLst>
          </p:nvPr>
        </p:nvGraphicFramePr>
        <p:xfrm>
          <a:off x="660399" y="926465"/>
          <a:ext cx="10219268" cy="5406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4817">
                  <a:extLst>
                    <a:ext uri="{9D8B030D-6E8A-4147-A177-3AD203B41FA5}">
                      <a16:colId xmlns:a16="http://schemas.microsoft.com/office/drawing/2014/main" val="747686255"/>
                    </a:ext>
                  </a:extLst>
                </a:gridCol>
                <a:gridCol w="2554817">
                  <a:extLst>
                    <a:ext uri="{9D8B030D-6E8A-4147-A177-3AD203B41FA5}">
                      <a16:colId xmlns:a16="http://schemas.microsoft.com/office/drawing/2014/main" val="4124976099"/>
                    </a:ext>
                  </a:extLst>
                </a:gridCol>
                <a:gridCol w="2554817">
                  <a:extLst>
                    <a:ext uri="{9D8B030D-6E8A-4147-A177-3AD203B41FA5}">
                      <a16:colId xmlns:a16="http://schemas.microsoft.com/office/drawing/2014/main" val="4035351828"/>
                    </a:ext>
                  </a:extLst>
                </a:gridCol>
                <a:gridCol w="2554817">
                  <a:extLst>
                    <a:ext uri="{9D8B030D-6E8A-4147-A177-3AD203B41FA5}">
                      <a16:colId xmlns:a16="http://schemas.microsoft.com/office/drawing/2014/main" val="1517663780"/>
                    </a:ext>
                  </a:extLst>
                </a:gridCol>
              </a:tblGrid>
              <a:tr h="772372">
                <a:tc>
                  <a:txBody>
                    <a:bodyPr/>
                    <a:lstStyle/>
                    <a:p>
                      <a:r>
                        <a:rPr lang="en-US" b="1" dirty="0"/>
                        <a:t>Phase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Project 1: Multi-Omics Integration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Project 2: PRS for ALS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Timeframe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899321"/>
                  </a:ext>
                </a:extLst>
              </a:tr>
              <a:tr h="772372">
                <a:tc>
                  <a:txBody>
                    <a:bodyPr/>
                    <a:lstStyle/>
                    <a:p>
                      <a:r>
                        <a:rPr lang="en-US" b="1"/>
                        <a:t>Phase 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 Collection &amp;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Obtain ALS GWAS SNPs &amp; Patient Genotypes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Weeks 1–2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035473"/>
                  </a:ext>
                </a:extLst>
              </a:tr>
              <a:tr h="772372">
                <a:tc>
                  <a:txBody>
                    <a:bodyPr/>
                    <a:lstStyle/>
                    <a:p>
                      <a:r>
                        <a:rPr lang="en-US" b="1"/>
                        <a:t>Phase 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Identify Omics Features &amp; DEGs/DEPs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Compute PRS for Each Patient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Weeks 3–4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321959"/>
                  </a:ext>
                </a:extLst>
              </a:tr>
              <a:tr h="772372">
                <a:tc>
                  <a:txBody>
                    <a:bodyPr/>
                    <a:lstStyle/>
                    <a:p>
                      <a:r>
                        <a:rPr lang="en-US" b="1"/>
                        <a:t>Phase 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Clustering &amp; ALS Subtype Identification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PRS-Clinical Correlation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Weeks 5–6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222325"/>
                  </a:ext>
                </a:extLst>
              </a:tr>
              <a:tr h="772372">
                <a:tc>
                  <a:txBody>
                    <a:bodyPr/>
                    <a:lstStyle/>
                    <a:p>
                      <a:r>
                        <a:rPr lang="en-US" b="1"/>
                        <a:t>Phase 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Kaplan-Meier Survival &amp; Cox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PRS-Multi-Omics Integration (eQTL, pQTL)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Weeks 7–8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497823"/>
                  </a:ext>
                </a:extLst>
              </a:tr>
              <a:tr h="772372">
                <a:tc>
                  <a:txBody>
                    <a:bodyPr/>
                    <a:lstStyle/>
                    <a:p>
                      <a:r>
                        <a:rPr lang="en-US" b="1"/>
                        <a:t>Phase 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Pathway Enrichment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Functional Pathway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Weeks 9–10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1905528"/>
                  </a:ext>
                </a:extLst>
              </a:tr>
              <a:tr h="772372">
                <a:tc>
                  <a:txBody>
                    <a:bodyPr/>
                    <a:lstStyle/>
                    <a:p>
                      <a:r>
                        <a:rPr lang="en-US" b="1"/>
                        <a:t>Phase 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Manuscript Preparation &amp;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Manuscript Preparation &amp;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Weeks 11–12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685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223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4560</TotalTime>
  <Words>631</Words>
  <Application>Microsoft Macintosh PowerPoint</Application>
  <PresentationFormat>Widescreen</PresentationFormat>
  <Paragraphs>119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</vt:lpstr>
      <vt:lpstr>Office Theme</vt:lpstr>
      <vt:lpstr>ALS project workflow</vt:lpstr>
      <vt:lpstr>PowerPoint Presentation</vt:lpstr>
      <vt:lpstr>PowerPoint Presentation</vt:lpstr>
      <vt:lpstr>PowerPoint Presentation</vt:lpstr>
      <vt:lpstr>How to request access to data?</vt:lpstr>
      <vt:lpstr>Levels of data</vt:lpstr>
      <vt:lpstr>PowerPoint Presentation</vt:lpstr>
      <vt:lpstr>PowerPoint Presentation</vt:lpstr>
      <vt:lpstr>PowerPoint Presentation</vt:lpstr>
      <vt:lpstr>GWAS resources</vt:lpstr>
      <vt:lpstr>Proposed Timeframes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Bhandary, Priyanka</dc:creator>
  <cp:lastModifiedBy>Bhandary, Priyanka</cp:lastModifiedBy>
  <cp:revision>8</cp:revision>
  <dcterms:created xsi:type="dcterms:W3CDTF">2025-03-17T16:34:15Z</dcterms:created>
  <dcterms:modified xsi:type="dcterms:W3CDTF">2025-03-20T20:35:13Z</dcterms:modified>
</cp:coreProperties>
</file>