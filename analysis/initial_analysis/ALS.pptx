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57" r:id="rId4"/>
    <p:sldId id="259" r:id="rId5"/>
    <p:sldId id="260" r:id="rId6"/>
    <p:sldId id="272" r:id="rId7"/>
    <p:sldId id="274" r:id="rId8"/>
    <p:sldId id="273" r:id="rId9"/>
    <p:sldId id="270" r:id="rId10"/>
    <p:sldId id="264" r:id="rId11"/>
    <p:sldId id="263" r:id="rId12"/>
    <p:sldId id="266" r:id="rId13"/>
    <p:sldId id="275" r:id="rId14"/>
    <p:sldId id="276" r:id="rId15"/>
    <p:sldId id="277" r:id="rId16"/>
    <p:sldId id="278" r:id="rId17"/>
    <p:sldId id="268" r:id="rId18"/>
    <p:sldId id="267" r:id="rId19"/>
    <p:sldId id="269" r:id="rId20"/>
    <p:sldId id="261" r:id="rId21"/>
    <p:sldId id="279" r:id="rId22"/>
    <p:sldId id="280" r:id="rId23"/>
    <p:sldId id="281" r:id="rId24"/>
    <p:sldId id="26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3"/>
    <p:restoredTop sz="94603"/>
  </p:normalViewPr>
  <p:slideViewPr>
    <p:cSldViewPr snapToGrid="0">
      <p:cViewPr varScale="1">
        <p:scale>
          <a:sx n="127" d="100"/>
          <a:sy n="127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hyperlink" Target="https://www.answerals.org/" TargetMode="Externa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hyperlink" Target="https://www.answerals.org/" TargetMode="External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1F564B-0340-4E16-93BE-7DB9C45FF041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2E4F57B-E8FF-4DB8-B100-E0C5290BF04B}">
      <dgm:prSet/>
      <dgm:spPr/>
      <dgm:t>
        <a:bodyPr/>
        <a:lstStyle/>
        <a:p>
          <a:r>
            <a:rPr lang="en-US"/>
            <a:t>12% of ALS patients harbored a known ClinVar pathogenic (CP) variant in ALS genes.</a:t>
          </a:r>
        </a:p>
      </dgm:t>
    </dgm:pt>
    <dgm:pt modelId="{70108229-A413-4BC0-AB94-18F929458649}" type="parTrans" cxnId="{D0E7FF44-9246-4AF6-8140-36B0BE09BC7F}">
      <dgm:prSet/>
      <dgm:spPr/>
      <dgm:t>
        <a:bodyPr/>
        <a:lstStyle/>
        <a:p>
          <a:endParaRPr lang="en-US"/>
        </a:p>
      </dgm:t>
    </dgm:pt>
    <dgm:pt modelId="{86674696-A485-40AF-8097-10001ADA3277}" type="sibTrans" cxnId="{D0E7FF44-9246-4AF6-8140-36B0BE09BC7F}">
      <dgm:prSet/>
      <dgm:spPr/>
      <dgm:t>
        <a:bodyPr/>
        <a:lstStyle/>
        <a:p>
          <a:endParaRPr lang="en-US"/>
        </a:p>
      </dgm:t>
    </dgm:pt>
    <dgm:pt modelId="{B72218C6-8A2D-4423-959C-1F3018EC9B14}">
      <dgm:prSet/>
      <dgm:spPr/>
      <dgm:t>
        <a:bodyPr/>
        <a:lstStyle/>
        <a:p>
          <a:r>
            <a:rPr lang="en-US"/>
            <a:t>Examples of CP variants found:</a:t>
          </a:r>
        </a:p>
      </dgm:t>
    </dgm:pt>
    <dgm:pt modelId="{6FF0D771-D741-4A1C-81B7-6D9BD9789713}" type="parTrans" cxnId="{7E00F8F0-9886-4F33-9B1B-6277EBF07D9F}">
      <dgm:prSet/>
      <dgm:spPr/>
      <dgm:t>
        <a:bodyPr/>
        <a:lstStyle/>
        <a:p>
          <a:endParaRPr lang="en-US"/>
        </a:p>
      </dgm:t>
    </dgm:pt>
    <dgm:pt modelId="{75D55F3C-0F35-4770-90AD-F685001078D9}" type="sibTrans" cxnId="{7E00F8F0-9886-4F33-9B1B-6277EBF07D9F}">
      <dgm:prSet/>
      <dgm:spPr/>
      <dgm:t>
        <a:bodyPr/>
        <a:lstStyle/>
        <a:p>
          <a:endParaRPr lang="en-US"/>
        </a:p>
      </dgm:t>
    </dgm:pt>
    <dgm:pt modelId="{70D8AE04-6910-4514-8E29-0034728E3221}">
      <dgm:prSet/>
      <dgm:spPr/>
      <dgm:t>
        <a:bodyPr/>
        <a:lstStyle/>
        <a:p>
          <a:r>
            <a:rPr lang="en-US"/>
            <a:t>SOD1 (5 variants in 8 ALS patients)</a:t>
          </a:r>
        </a:p>
      </dgm:t>
    </dgm:pt>
    <dgm:pt modelId="{E190E3F3-7BC5-4127-89E8-647BBE1CFC84}" type="parTrans" cxnId="{14AE975F-0A71-4010-B567-8F371F6CCD49}">
      <dgm:prSet/>
      <dgm:spPr/>
      <dgm:t>
        <a:bodyPr/>
        <a:lstStyle/>
        <a:p>
          <a:endParaRPr lang="en-US"/>
        </a:p>
      </dgm:t>
    </dgm:pt>
    <dgm:pt modelId="{6AB52B03-6CCD-4827-A377-6233D0F2B2C2}" type="sibTrans" cxnId="{14AE975F-0A71-4010-B567-8F371F6CCD49}">
      <dgm:prSet/>
      <dgm:spPr/>
      <dgm:t>
        <a:bodyPr/>
        <a:lstStyle/>
        <a:p>
          <a:endParaRPr lang="en-US"/>
        </a:p>
      </dgm:t>
    </dgm:pt>
    <dgm:pt modelId="{41B8BC8D-A646-4C2D-BE73-3EB9562B3F8C}">
      <dgm:prSet/>
      <dgm:spPr/>
      <dgm:t>
        <a:bodyPr/>
        <a:lstStyle/>
        <a:p>
          <a:r>
            <a:rPr lang="en-US"/>
            <a:t>TDP43 (2 variants in 2 ALS patients)</a:t>
          </a:r>
        </a:p>
      </dgm:t>
    </dgm:pt>
    <dgm:pt modelId="{3D245F8F-E8D7-4657-94B3-084E16974711}" type="parTrans" cxnId="{AA385EB8-02E2-41C9-B97F-2B21473522B3}">
      <dgm:prSet/>
      <dgm:spPr/>
      <dgm:t>
        <a:bodyPr/>
        <a:lstStyle/>
        <a:p>
          <a:endParaRPr lang="en-US"/>
        </a:p>
      </dgm:t>
    </dgm:pt>
    <dgm:pt modelId="{B602CC68-D9BE-48C2-B713-29732A48995D}" type="sibTrans" cxnId="{AA385EB8-02E2-41C9-B97F-2B21473522B3}">
      <dgm:prSet/>
      <dgm:spPr/>
      <dgm:t>
        <a:bodyPr/>
        <a:lstStyle/>
        <a:p>
          <a:endParaRPr lang="en-US"/>
        </a:p>
      </dgm:t>
    </dgm:pt>
    <dgm:pt modelId="{7D0604E1-0830-426E-81B8-E58ECB5CDFBD}">
      <dgm:prSet/>
      <dgm:spPr/>
      <dgm:t>
        <a:bodyPr/>
        <a:lstStyle/>
        <a:p>
          <a:r>
            <a:rPr lang="en-US"/>
            <a:t>FUS (1 variant in 1 ALS patient)</a:t>
          </a:r>
        </a:p>
      </dgm:t>
    </dgm:pt>
    <dgm:pt modelId="{44CC3B88-42B5-479C-AD99-E7110744D3F1}" type="parTrans" cxnId="{8095DB93-EE06-4641-BB4E-2E3D8DC3D7F0}">
      <dgm:prSet/>
      <dgm:spPr/>
      <dgm:t>
        <a:bodyPr/>
        <a:lstStyle/>
        <a:p>
          <a:endParaRPr lang="en-US"/>
        </a:p>
      </dgm:t>
    </dgm:pt>
    <dgm:pt modelId="{2DAB99CF-A239-4773-9E6F-7C6B3CC8AE88}" type="sibTrans" cxnId="{8095DB93-EE06-4641-BB4E-2E3D8DC3D7F0}">
      <dgm:prSet/>
      <dgm:spPr/>
      <dgm:t>
        <a:bodyPr/>
        <a:lstStyle/>
        <a:p>
          <a:endParaRPr lang="en-US"/>
        </a:p>
      </dgm:t>
    </dgm:pt>
    <dgm:pt modelId="{0556FFA2-4BA7-49FE-885B-D442D3E81445}">
      <dgm:prSet/>
      <dgm:spPr/>
      <dgm:t>
        <a:bodyPr/>
        <a:lstStyle/>
        <a:p>
          <a:r>
            <a:rPr lang="en-US"/>
            <a:t>Some CP variants found in non-ALS individuals, including controls and pre-fALS subjects.</a:t>
          </a:r>
        </a:p>
      </dgm:t>
    </dgm:pt>
    <dgm:pt modelId="{72A3D577-A8E0-4B53-A68E-B9A18B37A30C}" type="parTrans" cxnId="{AB3CAD2E-7C7D-4B5C-A39E-5A291407DD92}">
      <dgm:prSet/>
      <dgm:spPr/>
      <dgm:t>
        <a:bodyPr/>
        <a:lstStyle/>
        <a:p>
          <a:endParaRPr lang="en-US"/>
        </a:p>
      </dgm:t>
    </dgm:pt>
    <dgm:pt modelId="{FF0A1C95-5865-48A0-9D20-C025CAA77576}" type="sibTrans" cxnId="{AB3CAD2E-7C7D-4B5C-A39E-5A291407DD92}">
      <dgm:prSet/>
      <dgm:spPr/>
      <dgm:t>
        <a:bodyPr/>
        <a:lstStyle/>
        <a:p>
          <a:endParaRPr lang="en-US"/>
        </a:p>
      </dgm:t>
    </dgm:pt>
    <dgm:pt modelId="{9A387C0A-5252-214C-819C-EF0C3E55821C}" type="pres">
      <dgm:prSet presAssocID="{821F564B-0340-4E16-93BE-7DB9C45FF041}" presName="Name0" presStyleCnt="0">
        <dgm:presLayoutVars>
          <dgm:dir/>
          <dgm:animLvl val="lvl"/>
          <dgm:resizeHandles val="exact"/>
        </dgm:presLayoutVars>
      </dgm:prSet>
      <dgm:spPr/>
    </dgm:pt>
    <dgm:pt modelId="{B5960AF2-4B0C-124F-A5FE-0B8E21FD1C8A}" type="pres">
      <dgm:prSet presAssocID="{0556FFA2-4BA7-49FE-885B-D442D3E81445}" presName="boxAndChildren" presStyleCnt="0"/>
      <dgm:spPr/>
    </dgm:pt>
    <dgm:pt modelId="{C3B7963C-72C8-5C4D-92B8-003E250F3E4E}" type="pres">
      <dgm:prSet presAssocID="{0556FFA2-4BA7-49FE-885B-D442D3E81445}" presName="parentTextBox" presStyleLbl="node1" presStyleIdx="0" presStyleCnt="3"/>
      <dgm:spPr/>
    </dgm:pt>
    <dgm:pt modelId="{569D2615-3499-B448-BDAE-DCB3B5A2D930}" type="pres">
      <dgm:prSet presAssocID="{75D55F3C-0F35-4770-90AD-F685001078D9}" presName="sp" presStyleCnt="0"/>
      <dgm:spPr/>
    </dgm:pt>
    <dgm:pt modelId="{04D3220B-6D38-3F47-BE58-CEDF542E39BD}" type="pres">
      <dgm:prSet presAssocID="{B72218C6-8A2D-4423-959C-1F3018EC9B14}" presName="arrowAndChildren" presStyleCnt="0"/>
      <dgm:spPr/>
    </dgm:pt>
    <dgm:pt modelId="{8365106C-0BE4-D04A-84C3-441B371FF615}" type="pres">
      <dgm:prSet presAssocID="{B72218C6-8A2D-4423-959C-1F3018EC9B14}" presName="parentTextArrow" presStyleLbl="node1" presStyleIdx="0" presStyleCnt="3"/>
      <dgm:spPr/>
    </dgm:pt>
    <dgm:pt modelId="{CC01BB41-1D16-004C-830A-44540F3466A3}" type="pres">
      <dgm:prSet presAssocID="{B72218C6-8A2D-4423-959C-1F3018EC9B14}" presName="arrow" presStyleLbl="node1" presStyleIdx="1" presStyleCnt="3"/>
      <dgm:spPr/>
    </dgm:pt>
    <dgm:pt modelId="{2AD42498-8D3E-7B44-984E-E224AFD853CD}" type="pres">
      <dgm:prSet presAssocID="{B72218C6-8A2D-4423-959C-1F3018EC9B14}" presName="descendantArrow" presStyleCnt="0"/>
      <dgm:spPr/>
    </dgm:pt>
    <dgm:pt modelId="{079BD9A3-AE64-8645-9EB2-580E40AEA1EE}" type="pres">
      <dgm:prSet presAssocID="{70D8AE04-6910-4514-8E29-0034728E3221}" presName="childTextArrow" presStyleLbl="fgAccFollowNode1" presStyleIdx="0" presStyleCnt="3">
        <dgm:presLayoutVars>
          <dgm:bulletEnabled val="1"/>
        </dgm:presLayoutVars>
      </dgm:prSet>
      <dgm:spPr/>
    </dgm:pt>
    <dgm:pt modelId="{2F5001A1-A680-7C4D-BB5C-793A3C87BF39}" type="pres">
      <dgm:prSet presAssocID="{41B8BC8D-A646-4C2D-BE73-3EB9562B3F8C}" presName="childTextArrow" presStyleLbl="fgAccFollowNode1" presStyleIdx="1" presStyleCnt="3">
        <dgm:presLayoutVars>
          <dgm:bulletEnabled val="1"/>
        </dgm:presLayoutVars>
      </dgm:prSet>
      <dgm:spPr/>
    </dgm:pt>
    <dgm:pt modelId="{0B112599-B510-D645-BE58-BB9BB96DDE50}" type="pres">
      <dgm:prSet presAssocID="{7D0604E1-0830-426E-81B8-E58ECB5CDFBD}" presName="childTextArrow" presStyleLbl="fgAccFollowNode1" presStyleIdx="2" presStyleCnt="3">
        <dgm:presLayoutVars>
          <dgm:bulletEnabled val="1"/>
        </dgm:presLayoutVars>
      </dgm:prSet>
      <dgm:spPr/>
    </dgm:pt>
    <dgm:pt modelId="{2AFD93EF-92F5-F74B-A297-35C534422430}" type="pres">
      <dgm:prSet presAssocID="{86674696-A485-40AF-8097-10001ADA3277}" presName="sp" presStyleCnt="0"/>
      <dgm:spPr/>
    </dgm:pt>
    <dgm:pt modelId="{191E00CB-801E-4E4C-80BC-FA3646FA8E27}" type="pres">
      <dgm:prSet presAssocID="{62E4F57B-E8FF-4DB8-B100-E0C5290BF04B}" presName="arrowAndChildren" presStyleCnt="0"/>
      <dgm:spPr/>
    </dgm:pt>
    <dgm:pt modelId="{B0758405-5416-0A4A-8C4C-608D35165117}" type="pres">
      <dgm:prSet presAssocID="{62E4F57B-E8FF-4DB8-B100-E0C5290BF04B}" presName="parentTextArrow" presStyleLbl="node1" presStyleIdx="2" presStyleCnt="3"/>
      <dgm:spPr/>
    </dgm:pt>
  </dgm:ptLst>
  <dgm:cxnLst>
    <dgm:cxn modelId="{4F26A819-7D7E-0A45-A792-27A12EB79E73}" type="presOf" srcId="{7D0604E1-0830-426E-81B8-E58ECB5CDFBD}" destId="{0B112599-B510-D645-BE58-BB9BB96DDE50}" srcOrd="0" destOrd="0" presId="urn:microsoft.com/office/officeart/2005/8/layout/process4"/>
    <dgm:cxn modelId="{D0E39A2B-4FDC-B746-A23C-9B3081086F2D}" type="presOf" srcId="{0556FFA2-4BA7-49FE-885B-D442D3E81445}" destId="{C3B7963C-72C8-5C4D-92B8-003E250F3E4E}" srcOrd="0" destOrd="0" presId="urn:microsoft.com/office/officeart/2005/8/layout/process4"/>
    <dgm:cxn modelId="{AB3CAD2E-7C7D-4B5C-A39E-5A291407DD92}" srcId="{821F564B-0340-4E16-93BE-7DB9C45FF041}" destId="{0556FFA2-4BA7-49FE-885B-D442D3E81445}" srcOrd="2" destOrd="0" parTransId="{72A3D577-A8E0-4B53-A68E-B9A18B37A30C}" sibTransId="{FF0A1C95-5865-48A0-9D20-C025CAA77576}"/>
    <dgm:cxn modelId="{2E641A40-3E3C-4143-89D7-09889CB5EA3F}" type="presOf" srcId="{62E4F57B-E8FF-4DB8-B100-E0C5290BF04B}" destId="{B0758405-5416-0A4A-8C4C-608D35165117}" srcOrd="0" destOrd="0" presId="urn:microsoft.com/office/officeart/2005/8/layout/process4"/>
    <dgm:cxn modelId="{D0E7FF44-9246-4AF6-8140-36B0BE09BC7F}" srcId="{821F564B-0340-4E16-93BE-7DB9C45FF041}" destId="{62E4F57B-E8FF-4DB8-B100-E0C5290BF04B}" srcOrd="0" destOrd="0" parTransId="{70108229-A413-4BC0-AB94-18F929458649}" sibTransId="{86674696-A485-40AF-8097-10001ADA3277}"/>
    <dgm:cxn modelId="{5A33824F-8D9D-AB43-A6AF-C7D207043CD0}" type="presOf" srcId="{B72218C6-8A2D-4423-959C-1F3018EC9B14}" destId="{8365106C-0BE4-D04A-84C3-441B371FF615}" srcOrd="0" destOrd="0" presId="urn:microsoft.com/office/officeart/2005/8/layout/process4"/>
    <dgm:cxn modelId="{14AE975F-0A71-4010-B567-8F371F6CCD49}" srcId="{B72218C6-8A2D-4423-959C-1F3018EC9B14}" destId="{70D8AE04-6910-4514-8E29-0034728E3221}" srcOrd="0" destOrd="0" parTransId="{E190E3F3-7BC5-4127-89E8-647BBE1CFC84}" sibTransId="{6AB52B03-6CCD-4827-A377-6233D0F2B2C2}"/>
    <dgm:cxn modelId="{AB6F4390-5734-A449-ABF7-DF956F2E4D85}" type="presOf" srcId="{41B8BC8D-A646-4C2D-BE73-3EB9562B3F8C}" destId="{2F5001A1-A680-7C4D-BB5C-793A3C87BF39}" srcOrd="0" destOrd="0" presId="urn:microsoft.com/office/officeart/2005/8/layout/process4"/>
    <dgm:cxn modelId="{8095DB93-EE06-4641-BB4E-2E3D8DC3D7F0}" srcId="{B72218C6-8A2D-4423-959C-1F3018EC9B14}" destId="{7D0604E1-0830-426E-81B8-E58ECB5CDFBD}" srcOrd="2" destOrd="0" parTransId="{44CC3B88-42B5-479C-AD99-E7110744D3F1}" sibTransId="{2DAB99CF-A239-4773-9E6F-7C6B3CC8AE88}"/>
    <dgm:cxn modelId="{AA385EB8-02E2-41C9-B97F-2B21473522B3}" srcId="{B72218C6-8A2D-4423-959C-1F3018EC9B14}" destId="{41B8BC8D-A646-4C2D-BE73-3EB9562B3F8C}" srcOrd="1" destOrd="0" parTransId="{3D245F8F-E8D7-4657-94B3-084E16974711}" sibTransId="{B602CC68-D9BE-48C2-B713-29732A48995D}"/>
    <dgm:cxn modelId="{25D271DB-B5BD-1A43-AA0C-6333571D666D}" type="presOf" srcId="{821F564B-0340-4E16-93BE-7DB9C45FF041}" destId="{9A387C0A-5252-214C-819C-EF0C3E55821C}" srcOrd="0" destOrd="0" presId="urn:microsoft.com/office/officeart/2005/8/layout/process4"/>
    <dgm:cxn modelId="{CFB69FE9-4E16-F346-80EF-BD3CA874D254}" type="presOf" srcId="{70D8AE04-6910-4514-8E29-0034728E3221}" destId="{079BD9A3-AE64-8645-9EB2-580E40AEA1EE}" srcOrd="0" destOrd="0" presId="urn:microsoft.com/office/officeart/2005/8/layout/process4"/>
    <dgm:cxn modelId="{6656C8ED-D363-5649-A0B9-548891C99C7A}" type="presOf" srcId="{B72218C6-8A2D-4423-959C-1F3018EC9B14}" destId="{CC01BB41-1D16-004C-830A-44540F3466A3}" srcOrd="1" destOrd="0" presId="urn:microsoft.com/office/officeart/2005/8/layout/process4"/>
    <dgm:cxn modelId="{7E00F8F0-9886-4F33-9B1B-6277EBF07D9F}" srcId="{821F564B-0340-4E16-93BE-7DB9C45FF041}" destId="{B72218C6-8A2D-4423-959C-1F3018EC9B14}" srcOrd="1" destOrd="0" parTransId="{6FF0D771-D741-4A1C-81B7-6D9BD9789713}" sibTransId="{75D55F3C-0F35-4770-90AD-F685001078D9}"/>
    <dgm:cxn modelId="{10807587-180E-AF40-9422-C49417BFDC12}" type="presParOf" srcId="{9A387C0A-5252-214C-819C-EF0C3E55821C}" destId="{B5960AF2-4B0C-124F-A5FE-0B8E21FD1C8A}" srcOrd="0" destOrd="0" presId="urn:microsoft.com/office/officeart/2005/8/layout/process4"/>
    <dgm:cxn modelId="{885712AD-FC8E-F245-9D31-53F93CA6CF73}" type="presParOf" srcId="{B5960AF2-4B0C-124F-A5FE-0B8E21FD1C8A}" destId="{C3B7963C-72C8-5C4D-92B8-003E250F3E4E}" srcOrd="0" destOrd="0" presId="urn:microsoft.com/office/officeart/2005/8/layout/process4"/>
    <dgm:cxn modelId="{FE71FE74-6062-A746-906E-8A35B52C1E86}" type="presParOf" srcId="{9A387C0A-5252-214C-819C-EF0C3E55821C}" destId="{569D2615-3499-B448-BDAE-DCB3B5A2D930}" srcOrd="1" destOrd="0" presId="urn:microsoft.com/office/officeart/2005/8/layout/process4"/>
    <dgm:cxn modelId="{97A1B066-EE66-B440-A314-2AE640F8A3ED}" type="presParOf" srcId="{9A387C0A-5252-214C-819C-EF0C3E55821C}" destId="{04D3220B-6D38-3F47-BE58-CEDF542E39BD}" srcOrd="2" destOrd="0" presId="urn:microsoft.com/office/officeart/2005/8/layout/process4"/>
    <dgm:cxn modelId="{75DBE745-254D-674B-B1B1-4AA91650B083}" type="presParOf" srcId="{04D3220B-6D38-3F47-BE58-CEDF542E39BD}" destId="{8365106C-0BE4-D04A-84C3-441B371FF615}" srcOrd="0" destOrd="0" presId="urn:microsoft.com/office/officeart/2005/8/layout/process4"/>
    <dgm:cxn modelId="{409AFDAD-8152-A84D-AFA0-F06CCB3A7834}" type="presParOf" srcId="{04D3220B-6D38-3F47-BE58-CEDF542E39BD}" destId="{CC01BB41-1D16-004C-830A-44540F3466A3}" srcOrd="1" destOrd="0" presId="urn:microsoft.com/office/officeart/2005/8/layout/process4"/>
    <dgm:cxn modelId="{DE17AE7D-54F7-B344-B275-B3E9EDB1AFA5}" type="presParOf" srcId="{04D3220B-6D38-3F47-BE58-CEDF542E39BD}" destId="{2AD42498-8D3E-7B44-984E-E224AFD853CD}" srcOrd="2" destOrd="0" presId="urn:microsoft.com/office/officeart/2005/8/layout/process4"/>
    <dgm:cxn modelId="{16D3F73C-1342-774C-9EC4-1041961B12EB}" type="presParOf" srcId="{2AD42498-8D3E-7B44-984E-E224AFD853CD}" destId="{079BD9A3-AE64-8645-9EB2-580E40AEA1EE}" srcOrd="0" destOrd="0" presId="urn:microsoft.com/office/officeart/2005/8/layout/process4"/>
    <dgm:cxn modelId="{22CDCA0F-4812-6D4A-B813-6DDEE5122072}" type="presParOf" srcId="{2AD42498-8D3E-7B44-984E-E224AFD853CD}" destId="{2F5001A1-A680-7C4D-BB5C-793A3C87BF39}" srcOrd="1" destOrd="0" presId="urn:microsoft.com/office/officeart/2005/8/layout/process4"/>
    <dgm:cxn modelId="{ADD92012-0D95-7342-9B79-EAEC7B8702E8}" type="presParOf" srcId="{2AD42498-8D3E-7B44-984E-E224AFD853CD}" destId="{0B112599-B510-D645-BE58-BB9BB96DDE50}" srcOrd="2" destOrd="0" presId="urn:microsoft.com/office/officeart/2005/8/layout/process4"/>
    <dgm:cxn modelId="{B401C4D9-BC9C-A047-A70F-0E001DECE4D2}" type="presParOf" srcId="{9A387C0A-5252-214C-819C-EF0C3E55821C}" destId="{2AFD93EF-92F5-F74B-A297-35C534422430}" srcOrd="3" destOrd="0" presId="urn:microsoft.com/office/officeart/2005/8/layout/process4"/>
    <dgm:cxn modelId="{23CB7652-F094-E540-88F3-9077A79E9298}" type="presParOf" srcId="{9A387C0A-5252-214C-819C-EF0C3E55821C}" destId="{191E00CB-801E-4E4C-80BC-FA3646FA8E27}" srcOrd="4" destOrd="0" presId="urn:microsoft.com/office/officeart/2005/8/layout/process4"/>
    <dgm:cxn modelId="{B4065573-1B23-384A-B629-0BB2D4EE1647}" type="presParOf" srcId="{191E00CB-801E-4E4C-80BC-FA3646FA8E27}" destId="{B0758405-5416-0A4A-8C4C-608D3516511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ADAD24-D060-4A94-924A-279F4EF904A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CD5B7E-AE37-4A08-B33C-3DA7652309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Instead of integration, they processed it separately for all samples</a:t>
          </a:r>
        </a:p>
      </dgm:t>
    </dgm:pt>
    <dgm:pt modelId="{9B035620-4EF5-4B54-ABE1-EE07EA4CF678}" type="parTrans" cxnId="{26CBD546-D90C-4956-8336-ED0FF3CD0FC3}">
      <dgm:prSet/>
      <dgm:spPr/>
      <dgm:t>
        <a:bodyPr/>
        <a:lstStyle/>
        <a:p>
          <a:endParaRPr lang="en-US"/>
        </a:p>
      </dgm:t>
    </dgm:pt>
    <dgm:pt modelId="{97C6844E-58C7-43DE-8218-0AB0EC039D0B}" type="sibTrans" cxnId="{26CBD546-D90C-4956-8336-ED0FF3CD0FC3}">
      <dgm:prSet/>
      <dgm:spPr/>
      <dgm:t>
        <a:bodyPr/>
        <a:lstStyle/>
        <a:p>
          <a:endParaRPr lang="en-US"/>
        </a:p>
      </dgm:t>
    </dgm:pt>
    <dgm:pt modelId="{D8832611-3095-488F-80D4-B744E9B11FB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Then, validated each of the results obtained across clinical data and omics data</a:t>
          </a:r>
        </a:p>
      </dgm:t>
    </dgm:pt>
    <dgm:pt modelId="{1EF17B98-A568-43D1-8211-4393445686F9}" type="parTrans" cxnId="{B63775C2-23B5-4E6B-8B34-D6FA23A11C73}">
      <dgm:prSet/>
      <dgm:spPr/>
      <dgm:t>
        <a:bodyPr/>
        <a:lstStyle/>
        <a:p>
          <a:endParaRPr lang="en-US"/>
        </a:p>
      </dgm:t>
    </dgm:pt>
    <dgm:pt modelId="{1D05AC21-8890-4C1C-8B9C-198FC4D2996A}" type="sibTrans" cxnId="{B63775C2-23B5-4E6B-8B34-D6FA23A11C73}">
      <dgm:prSet/>
      <dgm:spPr/>
      <dgm:t>
        <a:bodyPr/>
        <a:lstStyle/>
        <a:p>
          <a:endParaRPr lang="en-US"/>
        </a:p>
      </dgm:t>
    </dgm:pt>
    <dgm:pt modelId="{181A82E0-0000-41E2-B975-1AABBFCDC9A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Discovered a new gene, Kif5A, involved in ALS</a:t>
          </a:r>
        </a:p>
      </dgm:t>
    </dgm:pt>
    <dgm:pt modelId="{C1027801-B9E6-4636-B80D-AD51B60B3D8E}" type="parTrans" cxnId="{EF57EDDD-3623-4C47-8D19-84B16B879F97}">
      <dgm:prSet/>
      <dgm:spPr/>
      <dgm:t>
        <a:bodyPr/>
        <a:lstStyle/>
        <a:p>
          <a:endParaRPr lang="en-US"/>
        </a:p>
      </dgm:t>
    </dgm:pt>
    <dgm:pt modelId="{FB24AD66-7C26-4723-BFFB-251730B71E51}" type="sibTrans" cxnId="{EF57EDDD-3623-4C47-8D19-84B16B879F97}">
      <dgm:prSet/>
      <dgm:spPr/>
      <dgm:t>
        <a:bodyPr/>
        <a:lstStyle/>
        <a:p>
          <a:endParaRPr lang="en-US"/>
        </a:p>
      </dgm:t>
    </dgm:pt>
    <dgm:pt modelId="{6D2DE6E7-00A6-4777-962C-0ED84E24C3A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All the data is freely available for researchers on their portal </a:t>
          </a:r>
        </a:p>
      </dgm:t>
    </dgm:pt>
    <dgm:pt modelId="{1CFD973A-FE65-42EC-9DAD-E5464C5FD4C8}" type="parTrans" cxnId="{2076172F-AF2D-48FF-A0A4-B27756575010}">
      <dgm:prSet/>
      <dgm:spPr/>
      <dgm:t>
        <a:bodyPr/>
        <a:lstStyle/>
        <a:p>
          <a:endParaRPr lang="en-US"/>
        </a:p>
      </dgm:t>
    </dgm:pt>
    <dgm:pt modelId="{C236B286-F6ED-4FAC-A43B-ECFEB33E9841}" type="sibTrans" cxnId="{2076172F-AF2D-48FF-A0A4-B27756575010}">
      <dgm:prSet/>
      <dgm:spPr/>
      <dgm:t>
        <a:bodyPr/>
        <a:lstStyle/>
        <a:p>
          <a:endParaRPr lang="en-US"/>
        </a:p>
      </dgm:t>
    </dgm:pt>
    <dgm:pt modelId="{49CED456-7B75-44D3-BD29-606579FE711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>
              <a:hlinkClick xmlns:r="http://schemas.openxmlformats.org/officeDocument/2006/relationships" r:id="rId1"/>
            </a:rPr>
            <a:t>https://www.answerals.org/</a:t>
          </a:r>
          <a:endParaRPr lang="en-US" sz="1600" dirty="0"/>
        </a:p>
      </dgm:t>
    </dgm:pt>
    <dgm:pt modelId="{017EA32D-66CD-401B-AD04-04DE33F9CE04}" type="parTrans" cxnId="{A0CA8AA7-FBED-451C-A235-F7D3B7F5F4F4}">
      <dgm:prSet/>
      <dgm:spPr/>
      <dgm:t>
        <a:bodyPr/>
        <a:lstStyle/>
        <a:p>
          <a:endParaRPr lang="en-US"/>
        </a:p>
      </dgm:t>
    </dgm:pt>
    <dgm:pt modelId="{F1E7ABB7-019D-4802-9ADB-CA54EFA45DFB}" type="sibTrans" cxnId="{A0CA8AA7-FBED-451C-A235-F7D3B7F5F4F4}">
      <dgm:prSet/>
      <dgm:spPr/>
      <dgm:t>
        <a:bodyPr/>
        <a:lstStyle/>
        <a:p>
          <a:endParaRPr lang="en-US"/>
        </a:p>
      </dgm:t>
    </dgm:pt>
    <dgm:pt modelId="{7FD83248-A3C4-4898-91FF-2C1BF9926B4E}" type="pres">
      <dgm:prSet presAssocID="{B5ADAD24-D060-4A94-924A-279F4EF904A1}" presName="root" presStyleCnt="0">
        <dgm:presLayoutVars>
          <dgm:dir/>
          <dgm:resizeHandles val="exact"/>
        </dgm:presLayoutVars>
      </dgm:prSet>
      <dgm:spPr/>
    </dgm:pt>
    <dgm:pt modelId="{0D181085-2CE0-4021-AF7D-5FF10ABE17AF}" type="pres">
      <dgm:prSet presAssocID="{8DCD5B7E-AE37-4A08-B33C-3DA76523094E}" presName="compNode" presStyleCnt="0"/>
      <dgm:spPr/>
    </dgm:pt>
    <dgm:pt modelId="{86A3966E-7C12-499C-9439-49EFBC48A0DF}" type="pres">
      <dgm:prSet presAssocID="{8DCD5B7E-AE37-4A08-B33C-3DA76523094E}" presName="iconRect" presStyleLbl="node1" presStyleIdx="0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538E0E3F-C307-4295-BC1E-777E41189905}" type="pres">
      <dgm:prSet presAssocID="{8DCD5B7E-AE37-4A08-B33C-3DA76523094E}" presName="spaceRect" presStyleCnt="0"/>
      <dgm:spPr/>
    </dgm:pt>
    <dgm:pt modelId="{7BEDE8AB-82E6-47CC-BC2E-0E2682393C8C}" type="pres">
      <dgm:prSet presAssocID="{8DCD5B7E-AE37-4A08-B33C-3DA76523094E}" presName="textRect" presStyleLbl="revTx" presStyleIdx="0" presStyleCnt="5">
        <dgm:presLayoutVars>
          <dgm:chMax val="1"/>
          <dgm:chPref val="1"/>
        </dgm:presLayoutVars>
      </dgm:prSet>
      <dgm:spPr/>
    </dgm:pt>
    <dgm:pt modelId="{3AF817E1-05FA-4479-9C70-981BA6FCB23F}" type="pres">
      <dgm:prSet presAssocID="{97C6844E-58C7-43DE-8218-0AB0EC039D0B}" presName="sibTrans" presStyleCnt="0"/>
      <dgm:spPr/>
    </dgm:pt>
    <dgm:pt modelId="{08F4E813-0CA2-43E1-9820-6A4FC6227722}" type="pres">
      <dgm:prSet presAssocID="{D8832611-3095-488F-80D4-B744E9B11FB2}" presName="compNode" presStyleCnt="0"/>
      <dgm:spPr/>
    </dgm:pt>
    <dgm:pt modelId="{A096A37D-4693-4AE3-9699-158BBB1EF523}" type="pres">
      <dgm:prSet presAssocID="{D8832611-3095-488F-80D4-B744E9B11FB2}" presName="iconRect" presStyleLbl="node1" presStyleIdx="1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E87AE12-29A9-40CC-8964-5EC8739034A5}" type="pres">
      <dgm:prSet presAssocID="{D8832611-3095-488F-80D4-B744E9B11FB2}" presName="spaceRect" presStyleCnt="0"/>
      <dgm:spPr/>
    </dgm:pt>
    <dgm:pt modelId="{896D7ED6-31C3-49E6-8819-ADD49D7B04AD}" type="pres">
      <dgm:prSet presAssocID="{D8832611-3095-488F-80D4-B744E9B11FB2}" presName="textRect" presStyleLbl="revTx" presStyleIdx="1" presStyleCnt="5">
        <dgm:presLayoutVars>
          <dgm:chMax val="1"/>
          <dgm:chPref val="1"/>
        </dgm:presLayoutVars>
      </dgm:prSet>
      <dgm:spPr/>
    </dgm:pt>
    <dgm:pt modelId="{DF51D85E-6430-493E-A949-F2F126A2F9B2}" type="pres">
      <dgm:prSet presAssocID="{1D05AC21-8890-4C1C-8B9C-198FC4D2996A}" presName="sibTrans" presStyleCnt="0"/>
      <dgm:spPr/>
    </dgm:pt>
    <dgm:pt modelId="{6932534E-6D55-4903-AA67-698953ADA670}" type="pres">
      <dgm:prSet presAssocID="{181A82E0-0000-41E2-B975-1AABBFCDC9A6}" presName="compNode" presStyleCnt="0"/>
      <dgm:spPr/>
    </dgm:pt>
    <dgm:pt modelId="{8CB4AA26-A597-4C51-AA36-0CF536299427}" type="pres">
      <dgm:prSet presAssocID="{181A82E0-0000-41E2-B975-1AABBFCDC9A6}" presName="iconRect" presStyleLbl="node1" presStyleIdx="2" presStyleCnt="5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E27DDFFD-A6F8-4FB8-8CEA-616CF45D6850}" type="pres">
      <dgm:prSet presAssocID="{181A82E0-0000-41E2-B975-1AABBFCDC9A6}" presName="spaceRect" presStyleCnt="0"/>
      <dgm:spPr/>
    </dgm:pt>
    <dgm:pt modelId="{8A57F312-7273-44BA-8AFC-6675895C7260}" type="pres">
      <dgm:prSet presAssocID="{181A82E0-0000-41E2-B975-1AABBFCDC9A6}" presName="textRect" presStyleLbl="revTx" presStyleIdx="2" presStyleCnt="5">
        <dgm:presLayoutVars>
          <dgm:chMax val="1"/>
          <dgm:chPref val="1"/>
        </dgm:presLayoutVars>
      </dgm:prSet>
      <dgm:spPr/>
    </dgm:pt>
    <dgm:pt modelId="{1EFDA3FD-55E9-4F34-B683-DC5AADA6D76E}" type="pres">
      <dgm:prSet presAssocID="{FB24AD66-7C26-4723-BFFB-251730B71E51}" presName="sibTrans" presStyleCnt="0"/>
      <dgm:spPr/>
    </dgm:pt>
    <dgm:pt modelId="{9F1ED33D-2E53-45BB-8BB3-C5418DA8387B}" type="pres">
      <dgm:prSet presAssocID="{6D2DE6E7-00A6-4777-962C-0ED84E24C3AD}" presName="compNode" presStyleCnt="0"/>
      <dgm:spPr/>
    </dgm:pt>
    <dgm:pt modelId="{9F82B0DA-5961-4923-A62B-CA4D9CA5AC17}" type="pres">
      <dgm:prSet presAssocID="{6D2DE6E7-00A6-4777-962C-0ED84E24C3AD}" presName="iconRect" presStyleLbl="node1" presStyleIdx="3" presStyleCnt="5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46C5664B-170F-48B2-AA5F-8D99153F6336}" type="pres">
      <dgm:prSet presAssocID="{6D2DE6E7-00A6-4777-962C-0ED84E24C3AD}" presName="spaceRect" presStyleCnt="0"/>
      <dgm:spPr/>
    </dgm:pt>
    <dgm:pt modelId="{8E623EEC-975F-4917-984F-5F194684A1B9}" type="pres">
      <dgm:prSet presAssocID="{6D2DE6E7-00A6-4777-962C-0ED84E24C3AD}" presName="textRect" presStyleLbl="revTx" presStyleIdx="3" presStyleCnt="5">
        <dgm:presLayoutVars>
          <dgm:chMax val="1"/>
          <dgm:chPref val="1"/>
        </dgm:presLayoutVars>
      </dgm:prSet>
      <dgm:spPr/>
    </dgm:pt>
    <dgm:pt modelId="{EB41F7E3-0748-4608-819E-79FE44F811BF}" type="pres">
      <dgm:prSet presAssocID="{C236B286-F6ED-4FAC-A43B-ECFEB33E9841}" presName="sibTrans" presStyleCnt="0"/>
      <dgm:spPr/>
    </dgm:pt>
    <dgm:pt modelId="{74354F5D-6284-480C-8FB8-73897240E91C}" type="pres">
      <dgm:prSet presAssocID="{49CED456-7B75-44D3-BD29-606579FE7117}" presName="compNode" presStyleCnt="0"/>
      <dgm:spPr/>
    </dgm:pt>
    <dgm:pt modelId="{85A10FD7-AB1B-4152-B555-F2C622418F1A}" type="pres">
      <dgm:prSet presAssocID="{49CED456-7B75-44D3-BD29-606579FE7117}" presName="iconRect" presStyleLbl="node1" presStyleIdx="4" presStyleCnt="5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1CCD8EE9-F00D-4F10-AC3F-8CF96CD85E28}" type="pres">
      <dgm:prSet presAssocID="{49CED456-7B75-44D3-BD29-606579FE7117}" presName="spaceRect" presStyleCnt="0"/>
      <dgm:spPr/>
    </dgm:pt>
    <dgm:pt modelId="{E0C7F417-69FA-412B-8BEA-84E558A4F2A3}" type="pres">
      <dgm:prSet presAssocID="{49CED456-7B75-44D3-BD29-606579FE711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C73FC11-D55E-4CC4-859A-9D007A0311E7}" type="presOf" srcId="{181A82E0-0000-41E2-B975-1AABBFCDC9A6}" destId="{8A57F312-7273-44BA-8AFC-6675895C7260}" srcOrd="0" destOrd="0" presId="urn:microsoft.com/office/officeart/2018/2/layout/IconLabelList"/>
    <dgm:cxn modelId="{586F5812-DAB4-46FB-8A06-11D1750CC245}" type="presOf" srcId="{B5ADAD24-D060-4A94-924A-279F4EF904A1}" destId="{7FD83248-A3C4-4898-91FF-2C1BF9926B4E}" srcOrd="0" destOrd="0" presId="urn:microsoft.com/office/officeart/2018/2/layout/IconLabelList"/>
    <dgm:cxn modelId="{2076172F-AF2D-48FF-A0A4-B27756575010}" srcId="{B5ADAD24-D060-4A94-924A-279F4EF904A1}" destId="{6D2DE6E7-00A6-4777-962C-0ED84E24C3AD}" srcOrd="3" destOrd="0" parTransId="{1CFD973A-FE65-42EC-9DAD-E5464C5FD4C8}" sibTransId="{C236B286-F6ED-4FAC-A43B-ECFEB33E9841}"/>
    <dgm:cxn modelId="{26CBD546-D90C-4956-8336-ED0FF3CD0FC3}" srcId="{B5ADAD24-D060-4A94-924A-279F4EF904A1}" destId="{8DCD5B7E-AE37-4A08-B33C-3DA76523094E}" srcOrd="0" destOrd="0" parTransId="{9B035620-4EF5-4B54-ABE1-EE07EA4CF678}" sibTransId="{97C6844E-58C7-43DE-8218-0AB0EC039D0B}"/>
    <dgm:cxn modelId="{67E58178-55F7-410D-94F8-F2C9F95BC25D}" type="presOf" srcId="{8DCD5B7E-AE37-4A08-B33C-3DA76523094E}" destId="{7BEDE8AB-82E6-47CC-BC2E-0E2682393C8C}" srcOrd="0" destOrd="0" presId="urn:microsoft.com/office/officeart/2018/2/layout/IconLabelList"/>
    <dgm:cxn modelId="{A0CA8AA7-FBED-451C-A235-F7D3B7F5F4F4}" srcId="{B5ADAD24-D060-4A94-924A-279F4EF904A1}" destId="{49CED456-7B75-44D3-BD29-606579FE7117}" srcOrd="4" destOrd="0" parTransId="{017EA32D-66CD-401B-AD04-04DE33F9CE04}" sibTransId="{F1E7ABB7-019D-4802-9ADB-CA54EFA45DFB}"/>
    <dgm:cxn modelId="{D47998B4-8DE4-4169-8B5A-B78BDE4FECF4}" type="presOf" srcId="{6D2DE6E7-00A6-4777-962C-0ED84E24C3AD}" destId="{8E623EEC-975F-4917-984F-5F194684A1B9}" srcOrd="0" destOrd="0" presId="urn:microsoft.com/office/officeart/2018/2/layout/IconLabelList"/>
    <dgm:cxn modelId="{B63775C2-23B5-4E6B-8B34-D6FA23A11C73}" srcId="{B5ADAD24-D060-4A94-924A-279F4EF904A1}" destId="{D8832611-3095-488F-80D4-B744E9B11FB2}" srcOrd="1" destOrd="0" parTransId="{1EF17B98-A568-43D1-8211-4393445686F9}" sibTransId="{1D05AC21-8890-4C1C-8B9C-198FC4D2996A}"/>
    <dgm:cxn modelId="{AAF309D2-268A-43F1-842A-697F849AF2E8}" type="presOf" srcId="{D8832611-3095-488F-80D4-B744E9B11FB2}" destId="{896D7ED6-31C3-49E6-8819-ADD49D7B04AD}" srcOrd="0" destOrd="0" presId="urn:microsoft.com/office/officeart/2018/2/layout/IconLabelList"/>
    <dgm:cxn modelId="{EF57EDDD-3623-4C47-8D19-84B16B879F97}" srcId="{B5ADAD24-D060-4A94-924A-279F4EF904A1}" destId="{181A82E0-0000-41E2-B975-1AABBFCDC9A6}" srcOrd="2" destOrd="0" parTransId="{C1027801-B9E6-4636-B80D-AD51B60B3D8E}" sibTransId="{FB24AD66-7C26-4723-BFFB-251730B71E51}"/>
    <dgm:cxn modelId="{0C99F3FE-D547-49D5-A48A-1ADD8E284751}" type="presOf" srcId="{49CED456-7B75-44D3-BD29-606579FE7117}" destId="{E0C7F417-69FA-412B-8BEA-84E558A4F2A3}" srcOrd="0" destOrd="0" presId="urn:microsoft.com/office/officeart/2018/2/layout/IconLabelList"/>
    <dgm:cxn modelId="{A09FAA3A-5000-4F92-A384-ECEB2906268D}" type="presParOf" srcId="{7FD83248-A3C4-4898-91FF-2C1BF9926B4E}" destId="{0D181085-2CE0-4021-AF7D-5FF10ABE17AF}" srcOrd="0" destOrd="0" presId="urn:microsoft.com/office/officeart/2018/2/layout/IconLabelList"/>
    <dgm:cxn modelId="{712F3385-B41E-45A8-B730-0AE0798F1E3E}" type="presParOf" srcId="{0D181085-2CE0-4021-AF7D-5FF10ABE17AF}" destId="{86A3966E-7C12-499C-9439-49EFBC48A0DF}" srcOrd="0" destOrd="0" presId="urn:microsoft.com/office/officeart/2018/2/layout/IconLabelList"/>
    <dgm:cxn modelId="{8F11E56A-FA9F-4F56-83AA-98BEE713976F}" type="presParOf" srcId="{0D181085-2CE0-4021-AF7D-5FF10ABE17AF}" destId="{538E0E3F-C307-4295-BC1E-777E41189905}" srcOrd="1" destOrd="0" presId="urn:microsoft.com/office/officeart/2018/2/layout/IconLabelList"/>
    <dgm:cxn modelId="{FAE8ADE3-4709-4A62-9CC5-7371A04E0599}" type="presParOf" srcId="{0D181085-2CE0-4021-AF7D-5FF10ABE17AF}" destId="{7BEDE8AB-82E6-47CC-BC2E-0E2682393C8C}" srcOrd="2" destOrd="0" presId="urn:microsoft.com/office/officeart/2018/2/layout/IconLabelList"/>
    <dgm:cxn modelId="{D571D3AF-29FC-4066-8C3A-CB8906F72A10}" type="presParOf" srcId="{7FD83248-A3C4-4898-91FF-2C1BF9926B4E}" destId="{3AF817E1-05FA-4479-9C70-981BA6FCB23F}" srcOrd="1" destOrd="0" presId="urn:microsoft.com/office/officeart/2018/2/layout/IconLabelList"/>
    <dgm:cxn modelId="{0729080F-2541-46DD-9119-4F0195005378}" type="presParOf" srcId="{7FD83248-A3C4-4898-91FF-2C1BF9926B4E}" destId="{08F4E813-0CA2-43E1-9820-6A4FC6227722}" srcOrd="2" destOrd="0" presId="urn:microsoft.com/office/officeart/2018/2/layout/IconLabelList"/>
    <dgm:cxn modelId="{9A019248-3052-4B9F-8877-6C626C9DB969}" type="presParOf" srcId="{08F4E813-0CA2-43E1-9820-6A4FC6227722}" destId="{A096A37D-4693-4AE3-9699-158BBB1EF523}" srcOrd="0" destOrd="0" presId="urn:microsoft.com/office/officeart/2018/2/layout/IconLabelList"/>
    <dgm:cxn modelId="{6101A5AE-FB8B-40E3-9436-FBD486574572}" type="presParOf" srcId="{08F4E813-0CA2-43E1-9820-6A4FC6227722}" destId="{3E87AE12-29A9-40CC-8964-5EC8739034A5}" srcOrd="1" destOrd="0" presId="urn:microsoft.com/office/officeart/2018/2/layout/IconLabelList"/>
    <dgm:cxn modelId="{04A22890-4F53-41A6-A7BF-3C3AEDDA132B}" type="presParOf" srcId="{08F4E813-0CA2-43E1-9820-6A4FC6227722}" destId="{896D7ED6-31C3-49E6-8819-ADD49D7B04AD}" srcOrd="2" destOrd="0" presId="urn:microsoft.com/office/officeart/2018/2/layout/IconLabelList"/>
    <dgm:cxn modelId="{3140D810-7D0B-434C-AD94-BB7740FCAF3A}" type="presParOf" srcId="{7FD83248-A3C4-4898-91FF-2C1BF9926B4E}" destId="{DF51D85E-6430-493E-A949-F2F126A2F9B2}" srcOrd="3" destOrd="0" presId="urn:microsoft.com/office/officeart/2018/2/layout/IconLabelList"/>
    <dgm:cxn modelId="{97772360-EC2A-467E-9B76-5CCA003F4684}" type="presParOf" srcId="{7FD83248-A3C4-4898-91FF-2C1BF9926B4E}" destId="{6932534E-6D55-4903-AA67-698953ADA670}" srcOrd="4" destOrd="0" presId="urn:microsoft.com/office/officeart/2018/2/layout/IconLabelList"/>
    <dgm:cxn modelId="{143ADD4F-5C34-4E84-9E4B-5872AB546B28}" type="presParOf" srcId="{6932534E-6D55-4903-AA67-698953ADA670}" destId="{8CB4AA26-A597-4C51-AA36-0CF536299427}" srcOrd="0" destOrd="0" presId="urn:microsoft.com/office/officeart/2018/2/layout/IconLabelList"/>
    <dgm:cxn modelId="{D8D90FDD-3F03-4970-9E45-C11CCA2C7F44}" type="presParOf" srcId="{6932534E-6D55-4903-AA67-698953ADA670}" destId="{E27DDFFD-A6F8-4FB8-8CEA-616CF45D6850}" srcOrd="1" destOrd="0" presId="urn:microsoft.com/office/officeart/2018/2/layout/IconLabelList"/>
    <dgm:cxn modelId="{C2E6CCC3-D8B8-48DE-AF28-CB3FB48142A5}" type="presParOf" srcId="{6932534E-6D55-4903-AA67-698953ADA670}" destId="{8A57F312-7273-44BA-8AFC-6675895C7260}" srcOrd="2" destOrd="0" presId="urn:microsoft.com/office/officeart/2018/2/layout/IconLabelList"/>
    <dgm:cxn modelId="{E9534A3C-E664-4FDE-92A1-8D18F82AA10A}" type="presParOf" srcId="{7FD83248-A3C4-4898-91FF-2C1BF9926B4E}" destId="{1EFDA3FD-55E9-4F34-B683-DC5AADA6D76E}" srcOrd="5" destOrd="0" presId="urn:microsoft.com/office/officeart/2018/2/layout/IconLabelList"/>
    <dgm:cxn modelId="{4DDA0EF8-38B1-4DF1-A95E-6E03104A7CFF}" type="presParOf" srcId="{7FD83248-A3C4-4898-91FF-2C1BF9926B4E}" destId="{9F1ED33D-2E53-45BB-8BB3-C5418DA8387B}" srcOrd="6" destOrd="0" presId="urn:microsoft.com/office/officeart/2018/2/layout/IconLabelList"/>
    <dgm:cxn modelId="{1A957F20-F72B-4A03-AE88-A8D237881160}" type="presParOf" srcId="{9F1ED33D-2E53-45BB-8BB3-C5418DA8387B}" destId="{9F82B0DA-5961-4923-A62B-CA4D9CA5AC17}" srcOrd="0" destOrd="0" presId="urn:microsoft.com/office/officeart/2018/2/layout/IconLabelList"/>
    <dgm:cxn modelId="{1DC6E401-FC86-40AA-8927-92B430A843D5}" type="presParOf" srcId="{9F1ED33D-2E53-45BB-8BB3-C5418DA8387B}" destId="{46C5664B-170F-48B2-AA5F-8D99153F6336}" srcOrd="1" destOrd="0" presId="urn:microsoft.com/office/officeart/2018/2/layout/IconLabelList"/>
    <dgm:cxn modelId="{1A9B4FD1-F4A3-4802-85FA-B06D07E96D01}" type="presParOf" srcId="{9F1ED33D-2E53-45BB-8BB3-C5418DA8387B}" destId="{8E623EEC-975F-4917-984F-5F194684A1B9}" srcOrd="2" destOrd="0" presId="urn:microsoft.com/office/officeart/2018/2/layout/IconLabelList"/>
    <dgm:cxn modelId="{B56695BD-A47B-456A-B498-8D475BEE59D1}" type="presParOf" srcId="{7FD83248-A3C4-4898-91FF-2C1BF9926B4E}" destId="{EB41F7E3-0748-4608-819E-79FE44F811BF}" srcOrd="7" destOrd="0" presId="urn:microsoft.com/office/officeart/2018/2/layout/IconLabelList"/>
    <dgm:cxn modelId="{64C4C99B-0CCD-48EF-90BC-E11184908C48}" type="presParOf" srcId="{7FD83248-A3C4-4898-91FF-2C1BF9926B4E}" destId="{74354F5D-6284-480C-8FB8-73897240E91C}" srcOrd="8" destOrd="0" presId="urn:microsoft.com/office/officeart/2018/2/layout/IconLabelList"/>
    <dgm:cxn modelId="{36C7C2D4-7996-48BD-8FA4-9ABEF4F9D482}" type="presParOf" srcId="{74354F5D-6284-480C-8FB8-73897240E91C}" destId="{85A10FD7-AB1B-4152-B555-F2C622418F1A}" srcOrd="0" destOrd="0" presId="urn:microsoft.com/office/officeart/2018/2/layout/IconLabelList"/>
    <dgm:cxn modelId="{3587B066-0CF3-4502-901F-5F8504F52519}" type="presParOf" srcId="{74354F5D-6284-480C-8FB8-73897240E91C}" destId="{1CCD8EE9-F00D-4F10-AC3F-8CF96CD85E28}" srcOrd="1" destOrd="0" presId="urn:microsoft.com/office/officeart/2018/2/layout/IconLabelList"/>
    <dgm:cxn modelId="{AA1AEF79-88D1-4CE5-8180-D9362A7ABB58}" type="presParOf" srcId="{74354F5D-6284-480C-8FB8-73897240E91C}" destId="{E0C7F417-69FA-412B-8BEA-84E558A4F2A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B7963C-72C8-5C4D-92B8-003E250F3E4E}">
      <dsp:nvSpPr>
        <dsp:cNvPr id="0" name=""/>
        <dsp:cNvSpPr/>
      </dsp:nvSpPr>
      <dsp:spPr>
        <a:xfrm>
          <a:off x="0" y="3200675"/>
          <a:ext cx="10515600" cy="10505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Some CP variants found in non-ALS individuals, including controls and pre-fALS subjects.</a:t>
          </a:r>
        </a:p>
      </dsp:txBody>
      <dsp:txXfrm>
        <a:off x="0" y="3200675"/>
        <a:ext cx="10515600" cy="1050533"/>
      </dsp:txXfrm>
    </dsp:sp>
    <dsp:sp modelId="{CC01BB41-1D16-004C-830A-44540F3466A3}">
      <dsp:nvSpPr>
        <dsp:cNvPr id="0" name=""/>
        <dsp:cNvSpPr/>
      </dsp:nvSpPr>
      <dsp:spPr>
        <a:xfrm rot="10800000">
          <a:off x="0" y="1600713"/>
          <a:ext cx="10515600" cy="161571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Examples of CP variants found:</a:t>
          </a:r>
        </a:p>
      </dsp:txBody>
      <dsp:txXfrm rot="-10800000">
        <a:off x="0" y="1600713"/>
        <a:ext cx="10515600" cy="567117"/>
      </dsp:txXfrm>
    </dsp:sp>
    <dsp:sp modelId="{079BD9A3-AE64-8645-9EB2-580E40AEA1EE}">
      <dsp:nvSpPr>
        <dsp:cNvPr id="0" name=""/>
        <dsp:cNvSpPr/>
      </dsp:nvSpPr>
      <dsp:spPr>
        <a:xfrm>
          <a:off x="5134" y="2167831"/>
          <a:ext cx="3501776" cy="4831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SOD1 (5 variants in 8 ALS patients)</a:t>
          </a:r>
        </a:p>
      </dsp:txBody>
      <dsp:txXfrm>
        <a:off x="5134" y="2167831"/>
        <a:ext cx="3501776" cy="483100"/>
      </dsp:txXfrm>
    </dsp:sp>
    <dsp:sp modelId="{2F5001A1-A680-7C4D-BB5C-793A3C87BF39}">
      <dsp:nvSpPr>
        <dsp:cNvPr id="0" name=""/>
        <dsp:cNvSpPr/>
      </dsp:nvSpPr>
      <dsp:spPr>
        <a:xfrm>
          <a:off x="3506911" y="2167831"/>
          <a:ext cx="3501776" cy="4831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TDP43 (2 variants in 2 ALS patients)</a:t>
          </a:r>
        </a:p>
      </dsp:txBody>
      <dsp:txXfrm>
        <a:off x="3506911" y="2167831"/>
        <a:ext cx="3501776" cy="483100"/>
      </dsp:txXfrm>
    </dsp:sp>
    <dsp:sp modelId="{0B112599-B510-D645-BE58-BB9BB96DDE50}">
      <dsp:nvSpPr>
        <dsp:cNvPr id="0" name=""/>
        <dsp:cNvSpPr/>
      </dsp:nvSpPr>
      <dsp:spPr>
        <a:xfrm>
          <a:off x="7008688" y="2167831"/>
          <a:ext cx="3501776" cy="4831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FUS (1 variant in 1 ALS patient)</a:t>
          </a:r>
        </a:p>
      </dsp:txBody>
      <dsp:txXfrm>
        <a:off x="7008688" y="2167831"/>
        <a:ext cx="3501776" cy="483100"/>
      </dsp:txXfrm>
    </dsp:sp>
    <dsp:sp modelId="{B0758405-5416-0A4A-8C4C-608D35165117}">
      <dsp:nvSpPr>
        <dsp:cNvPr id="0" name=""/>
        <dsp:cNvSpPr/>
      </dsp:nvSpPr>
      <dsp:spPr>
        <a:xfrm rot="10800000">
          <a:off x="0" y="751"/>
          <a:ext cx="10515600" cy="161571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12% of ALS patients harbored a known ClinVar pathogenic (CP) variant in ALS genes.</a:t>
          </a:r>
        </a:p>
      </dsp:txBody>
      <dsp:txXfrm rot="10800000">
        <a:off x="0" y="751"/>
        <a:ext cx="10515600" cy="10498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A3966E-7C12-499C-9439-49EFBC48A0DF}">
      <dsp:nvSpPr>
        <dsp:cNvPr id="0" name=""/>
        <dsp:cNvSpPr/>
      </dsp:nvSpPr>
      <dsp:spPr>
        <a:xfrm>
          <a:off x="497614" y="957989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EDE8AB-82E6-47CC-BC2E-0E2682393C8C}">
      <dsp:nvSpPr>
        <dsp:cNvPr id="0" name=""/>
        <dsp:cNvSpPr/>
      </dsp:nvSpPr>
      <dsp:spPr>
        <a:xfrm>
          <a:off x="2614" y="2133348"/>
          <a:ext cx="180000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Instead of integration, they processed it separately for all samples</a:t>
          </a:r>
        </a:p>
      </dsp:txBody>
      <dsp:txXfrm>
        <a:off x="2614" y="2133348"/>
        <a:ext cx="1800000" cy="1260000"/>
      </dsp:txXfrm>
    </dsp:sp>
    <dsp:sp modelId="{A096A37D-4693-4AE3-9699-158BBB1EF523}">
      <dsp:nvSpPr>
        <dsp:cNvPr id="0" name=""/>
        <dsp:cNvSpPr/>
      </dsp:nvSpPr>
      <dsp:spPr>
        <a:xfrm>
          <a:off x="2612614" y="957989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D7ED6-31C3-49E6-8819-ADD49D7B04AD}">
      <dsp:nvSpPr>
        <dsp:cNvPr id="0" name=""/>
        <dsp:cNvSpPr/>
      </dsp:nvSpPr>
      <dsp:spPr>
        <a:xfrm>
          <a:off x="2117614" y="2133348"/>
          <a:ext cx="180000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Then, validated each of the results obtained across clinical data and omics data</a:t>
          </a:r>
        </a:p>
      </dsp:txBody>
      <dsp:txXfrm>
        <a:off x="2117614" y="2133348"/>
        <a:ext cx="1800000" cy="1260000"/>
      </dsp:txXfrm>
    </dsp:sp>
    <dsp:sp modelId="{8CB4AA26-A597-4C51-AA36-0CF536299427}">
      <dsp:nvSpPr>
        <dsp:cNvPr id="0" name=""/>
        <dsp:cNvSpPr/>
      </dsp:nvSpPr>
      <dsp:spPr>
        <a:xfrm>
          <a:off x="4727614" y="957989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57F312-7273-44BA-8AFC-6675895C7260}">
      <dsp:nvSpPr>
        <dsp:cNvPr id="0" name=""/>
        <dsp:cNvSpPr/>
      </dsp:nvSpPr>
      <dsp:spPr>
        <a:xfrm>
          <a:off x="4232614" y="2133348"/>
          <a:ext cx="180000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Discovered a new gene, Kif5A, involved in ALS</a:t>
          </a:r>
        </a:p>
      </dsp:txBody>
      <dsp:txXfrm>
        <a:off x="4232614" y="2133348"/>
        <a:ext cx="1800000" cy="1260000"/>
      </dsp:txXfrm>
    </dsp:sp>
    <dsp:sp modelId="{9F82B0DA-5961-4923-A62B-CA4D9CA5AC17}">
      <dsp:nvSpPr>
        <dsp:cNvPr id="0" name=""/>
        <dsp:cNvSpPr/>
      </dsp:nvSpPr>
      <dsp:spPr>
        <a:xfrm>
          <a:off x="6842614" y="957989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23EEC-975F-4917-984F-5F194684A1B9}">
      <dsp:nvSpPr>
        <dsp:cNvPr id="0" name=""/>
        <dsp:cNvSpPr/>
      </dsp:nvSpPr>
      <dsp:spPr>
        <a:xfrm>
          <a:off x="6347614" y="2133348"/>
          <a:ext cx="180000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All the data is freely available for researchers on their portal </a:t>
          </a:r>
        </a:p>
      </dsp:txBody>
      <dsp:txXfrm>
        <a:off x="6347614" y="2133348"/>
        <a:ext cx="1800000" cy="1260000"/>
      </dsp:txXfrm>
    </dsp:sp>
    <dsp:sp modelId="{85A10FD7-AB1B-4152-B555-F2C622418F1A}">
      <dsp:nvSpPr>
        <dsp:cNvPr id="0" name=""/>
        <dsp:cNvSpPr/>
      </dsp:nvSpPr>
      <dsp:spPr>
        <a:xfrm>
          <a:off x="8957614" y="957989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C7F417-69FA-412B-8BEA-84E558A4F2A3}">
      <dsp:nvSpPr>
        <dsp:cNvPr id="0" name=""/>
        <dsp:cNvSpPr/>
      </dsp:nvSpPr>
      <dsp:spPr>
        <a:xfrm>
          <a:off x="8462614" y="2133348"/>
          <a:ext cx="180000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hlinkClick xmlns:r="http://schemas.openxmlformats.org/officeDocument/2006/relationships" r:id="rId11"/>
            </a:rPr>
            <a:t>https://www.answerals.org/</a:t>
          </a:r>
          <a:endParaRPr lang="en-US" sz="1600" kern="1200" dirty="0"/>
        </a:p>
      </dsp:txBody>
      <dsp:txXfrm>
        <a:off x="8462614" y="2133348"/>
        <a:ext cx="1800000" cy="126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ADD6F-7ECB-294A-A084-92DFFEEF6DB5}" type="datetimeFigureOut">
              <a:rPr lang="en-US" smtClean="0"/>
              <a:t>3/3/25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92580-B0FA-544D-B364-5E18B2722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72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EF0FF"/>
                </a:solidFill>
                <a:effectLst/>
                <a:latin typeface="Google Sans"/>
              </a:rPr>
              <a:t>is </a:t>
            </a:r>
            <a:r>
              <a:rPr lang="en-US" dirty="0"/>
              <a:t>a fatal neurological disorder that causes nerve cells in the brain and spinal cord to die, resulting in muscle weakness and paralysis</a:t>
            </a:r>
          </a:p>
          <a:p>
            <a:r>
              <a:rPr lang="en-US" dirty="0"/>
              <a:t>like gene therapy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92580-B0FA-544D-B364-5E18B2722B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73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ALSFRS is a clinical tool used to measure the functional status and progression of ALS patients. The scale evaluates various aspects of a patient's physical abilities, and changes in the score help doctors track how the disease is affecting a patient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92580-B0FA-544D-B364-5E18B2722B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E57AA-C686-8DF0-D2BC-05BA46912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B402F-C1C4-93A1-6302-CCDA3BD1E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A7847-6F1A-987D-9F9B-708014402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ALSFRS is a clinical tool used to measure the functional status and progression of ALS patients. The scale evaluates various aspects of a patient's physical abilities, and changes in the score help doctors track how the disease is affecting a patient over time.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EFFEA-D1C4-3B3D-EBE4-03DF4786F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92580-B0FA-544D-B364-5E18B2722B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67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Notably, the samples with African descent had a higher number of variants than other ethnic populations, as expected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92580-B0FA-544D-B364-5E18B2722B2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4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3CB94-9067-9A63-D878-EC5522FD3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A674B-8ECE-9770-A0AA-93D3A84DE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A2B65-EF11-3219-E9CA-E307375B6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6CB4F-DAD3-A23B-2DB7-E94B3E0F5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92580-B0FA-544D-B364-5E18B2722B2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17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Genomic expansions of both </a:t>
            </a:r>
            <a:r>
              <a:rPr lang="en-US" b="0" i="1" dirty="0">
                <a:solidFill>
                  <a:srgbClr val="222222"/>
                </a:solidFill>
                <a:effectLst/>
                <a:latin typeface="Harding"/>
              </a:rPr>
              <a:t>C9orf72</a:t>
            </a:r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 and </a:t>
            </a:r>
            <a:r>
              <a:rPr lang="en-US" b="0" i="1" dirty="0" err="1">
                <a:solidFill>
                  <a:srgbClr val="222222"/>
                </a:solidFill>
                <a:effectLst/>
                <a:latin typeface="Harding"/>
              </a:rPr>
              <a:t>ataxin</a:t>
            </a:r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 2 are associated with both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Harding"/>
              </a:rPr>
              <a:t>fALS</a:t>
            </a:r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 and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Harding"/>
              </a:rPr>
              <a:t>sALS</a:t>
            </a:r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92580-B0FA-544D-B364-5E18B2722B2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26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5A642-E190-8A01-F133-56B982F89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AA9EC-5168-6D0F-BB78-8CBD6AB24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AFD7C-E87F-4050-1796-C8E6419FF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to ensure fair comparison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D5764-B894-057E-1992-46F2884E9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92580-B0FA-544D-B364-5E18B2722B2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36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1869-D350-8382-9964-9B1A3E3CB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77DFE-2213-698D-362E-02A6B3433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EAFF1-40F6-1BE5-AF73-C898C8D99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assess pathway activities, they used gene set variation analysis to score samples against canonical KEGG pathways and identified pathways that are differentially regulated between bulbar and limb onset of 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319E8-1EE2-BEC3-AF52-7FF023ACDB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92580-B0FA-544D-B364-5E18B2722B2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05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1DD8F-4F93-CE35-9650-BC5DFC7F6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24F9A-41FF-3B1B-27A9-1863CA255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0EEAFD-1638-A4B9-7A81-5C0D9FB96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2E21B-AE10-FDA6-AEDB-97974EA13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92580-B0FA-544D-B364-5E18B2722B2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0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9396-871C-A74F-E8EB-683A7931F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04FFA7-2EF0-35FB-624B-4305E4B9C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3735D-A8C9-59DF-0A49-6C2753A1A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EADA-7C78-0942-BBC1-32CA62ADDC05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B2BFF-969C-50FC-F835-8C93E588C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FD17D-D748-2B43-47C6-BB17B781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F931-EEEB-5B4E-A72D-F2D90B46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18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0AB7C-E109-E0C2-540E-62487B9BA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811CD-72A6-5175-BE98-2EF8C8010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79F37-767B-4EC8-4725-E175799DC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EADA-7C78-0942-BBC1-32CA62ADDC05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EA815-BA74-727E-1353-ED746F422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307AF-38B1-FF5A-C696-D89D5B421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F931-EEEB-5B4E-A72D-F2D90B46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29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B8369-5037-DCC4-C1C1-A54538006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9050D-3137-7978-1F75-B1AB2089D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D6C50-4536-DEDD-5F9E-3C3F2B904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EADA-7C78-0942-BBC1-32CA62ADDC05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F2700-9A14-FAD9-0F9B-2907A8D5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44381-2003-43DE-6438-0B88A5BA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F931-EEEB-5B4E-A72D-F2D90B46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30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048C7-9DD4-E5D6-1098-0EA926A01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432A9-50AE-C0A6-D9AE-243FA7FA4C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FF08B-C460-6C0D-1B78-C250444A2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34631-839B-11A7-0A7B-F4AADF84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EADA-7C78-0942-BBC1-32CA62ADDC05}" type="datetimeFigureOut">
              <a:rPr lang="en-US" smtClean="0"/>
              <a:t>3/3/25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1A83E-E705-55A9-6CE0-FEE8D71E3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6BAB1-8118-6178-32AA-83A7FB3D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F931-EEEB-5B4E-A72D-F2D90B46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10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D59D1-1DAF-536E-39FC-3061BF513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2B920-7B46-17FB-EF2B-A5879ED62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0224A-1CFD-4CAD-49B5-0E7CA20A4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D594EB-B966-A1B2-8A92-70912D1B6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BFF2AC-DE35-519E-B6A8-468CE8207D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62510F-55BD-38D3-1350-F662BD063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EADA-7C78-0942-BBC1-32CA62ADDC05}" type="datetimeFigureOut">
              <a:rPr lang="en-US" smtClean="0"/>
              <a:t>3/3/25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A9B662-8A0D-4190-62DA-D12B8F891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F9300D-F459-997C-FEA2-DCFBFF543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F931-EEEB-5B4E-A72D-F2D90B46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62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14E3-7020-FDF9-C329-53A68FF54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659933-F5F1-650F-67EF-D7BFF7A0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EADA-7C78-0942-BBC1-32CA62ADDC05}" type="datetimeFigureOut">
              <a:rPr lang="en-US" smtClean="0"/>
              <a:t>3/3/25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31F7CB-1C2C-7D9E-423D-DF8987B18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EFC73-0838-5CE2-655B-53DDEB009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F931-EEEB-5B4E-A72D-F2D90B46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2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85306C-95D7-39D5-8E69-E852FB8CF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EADA-7C78-0942-BBC1-32CA62ADDC05}" type="datetimeFigureOut">
              <a:rPr lang="en-US" smtClean="0"/>
              <a:t>3/3/25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340E19-FC99-25FF-6BC1-257E68BBE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AE11D-9BBF-DB5D-EA75-CC579A66C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F931-EEEB-5B4E-A72D-F2D90B46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8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AB137-709D-1054-87B6-0F9BE78B0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2D4CE-E64A-B072-BE1F-03BC51D2F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5655B-7CC6-F92B-6ED7-84A18E555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6152-52F8-5AC7-0B69-C18100627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EADA-7C78-0942-BBC1-32CA62ADDC05}" type="datetimeFigureOut">
              <a:rPr lang="en-US" smtClean="0"/>
              <a:t>3/3/25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A85F0-BDA6-68C0-A710-94F2EDCA6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0EDCD-1C65-5134-2B65-EBAB0ABC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F931-EEEB-5B4E-A72D-F2D90B46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52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B10D-FC2F-2B2B-FB6F-389E4C3AF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3D1F6-F705-0A08-7784-7C69E026EA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AA31E-EDC4-015F-F2AE-45D6FD09B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3F024-DECA-DC79-71B5-9D037258E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EADA-7C78-0942-BBC1-32CA62ADDC05}" type="datetimeFigureOut">
              <a:rPr lang="en-US" smtClean="0"/>
              <a:t>3/3/25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A19B8-413D-82B9-E178-467B2E18B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AEBA3-AF30-15BE-1219-8B033F498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F931-EEEB-5B4E-A72D-F2D90B46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529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009CE-76F6-AACE-1394-5C3CE65C0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391D5-C59D-6C5E-C64D-07D825159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C7557-D94C-A9ED-96CA-C544EC257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EADA-7C78-0942-BBC1-32CA62ADDC05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9810A-33C9-F262-A7E9-AF87C3A99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2E028-CA8B-4BD9-C501-F6E12E9B7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F931-EEEB-5B4E-A72D-F2D90B46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89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A31C6C-94E2-1256-3984-B921C251D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257E2-AD46-A1AB-AA35-C4E55EEF2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DDB98-A574-5DC2-F798-4A58501F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EADA-7C78-0942-BBC1-32CA62ADDC05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CAA5C-6266-9F1B-3757-6160CA59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58A72-8040-EBD5-34AE-92E17998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0F931-EEEB-5B4E-A72D-F2D90B46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35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56DCC0-1C30-738C-321E-D959A3E5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21B99-939E-003F-6DD5-09EFD8EB4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78F33-2382-8E62-630D-0CB7D86F6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1EADA-7C78-0942-BBC1-32CA62ADDC05}" type="datetimeFigureOut">
              <a:rPr lang="en-US" smtClean="0"/>
              <a:t>3/3/25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AE2E2-6957-C4E0-D1F6-C566DFEB6D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E9BD2-74FB-3CEF-0BB9-97209BBC7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0F931-EEEB-5B4E-A72D-F2D90B46F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46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dc.gov/als/php/abstracts-publications-reports/prevalence-2022-2030.html" TargetMode="External"/><Relationship Id="rId2" Type="http://schemas.openxmlformats.org/officeDocument/2006/relationships/hyperlink" Target="http://www.alsa.org/research/focus-areas/biomarkers/biorepositorie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argetals.org/2024/02/05/biofluid-samples-from-natural-history-study-available-for-global-distribution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ue and white rectangular object with black text&#10;&#10;Description automatically generated">
            <a:extLst>
              <a:ext uri="{FF2B5EF4-FFF2-40B4-BE49-F238E27FC236}">
                <a16:creationId xmlns:a16="http://schemas.microsoft.com/office/drawing/2014/main" id="{F25CDDD6-97A1-59CF-690A-1F39ACADA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84300"/>
            <a:ext cx="10905066" cy="4089399"/>
          </a:xfrm>
          <a:prstGeom prst="rect">
            <a:avLst/>
          </a:prstGeom>
          <a:ln>
            <a:noFill/>
          </a:ln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24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4F5E14-F2F8-E1E7-B6CC-2D28E7029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ALS - </a:t>
            </a:r>
            <a:r>
              <a:rPr lang="en-US" sz="4100" i="1">
                <a:solidFill>
                  <a:srgbClr val="FFFFFF"/>
                </a:solidFill>
                <a:effectLst/>
                <a:latin typeface="Helvetica" pitchFamily="2" charset="0"/>
              </a:rPr>
              <a:t>amyotrophic lateral sclerosis</a:t>
            </a:r>
            <a:endParaRPr lang="en-US" sz="4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A3069-295B-DEBE-C4FB-B46A688F6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6266656"/>
          </a:xfrm>
        </p:spPr>
        <p:txBody>
          <a:bodyPr anchor="ctr">
            <a:normAutofit/>
          </a:bodyPr>
          <a:lstStyle/>
          <a:p>
            <a:r>
              <a:rPr lang="en-US" dirty="0"/>
              <a:t>Two types of ALS </a:t>
            </a:r>
          </a:p>
          <a:p>
            <a:pPr lvl="1"/>
            <a:r>
              <a:rPr lang="en-US" dirty="0" err="1"/>
              <a:t>fALS</a:t>
            </a:r>
            <a:r>
              <a:rPr lang="en-US" dirty="0"/>
              <a:t> – </a:t>
            </a:r>
          </a:p>
          <a:p>
            <a:pPr lvl="2"/>
            <a:r>
              <a:rPr lang="en-US" dirty="0"/>
              <a:t>Inherited through family lines, typically involving specific mutations</a:t>
            </a:r>
          </a:p>
          <a:p>
            <a:pPr lvl="2"/>
            <a:r>
              <a:rPr lang="en-US" dirty="0"/>
              <a:t>Can be studied using targeted approaches</a:t>
            </a:r>
          </a:p>
          <a:p>
            <a:pPr lvl="1"/>
            <a:r>
              <a:rPr lang="en-US" dirty="0" err="1"/>
              <a:t>sALS</a:t>
            </a:r>
            <a:r>
              <a:rPr lang="en-US" dirty="0"/>
              <a:t> – </a:t>
            </a:r>
          </a:p>
          <a:p>
            <a:pPr lvl="2"/>
            <a:r>
              <a:rPr lang="en-US" dirty="0"/>
              <a:t>Occur randomly, without a clear family history or known genetic cause</a:t>
            </a:r>
          </a:p>
          <a:p>
            <a:pPr lvl="2"/>
            <a:r>
              <a:rPr lang="en-US" dirty="0"/>
              <a:t>Causes not well understood</a:t>
            </a:r>
          </a:p>
          <a:p>
            <a:pPr lvl="2"/>
            <a:r>
              <a:rPr lang="en-US" dirty="0"/>
              <a:t>More challenging to develop targeted treatments, no predictive model</a:t>
            </a:r>
          </a:p>
          <a:p>
            <a:pPr lvl="1"/>
            <a:r>
              <a:rPr lang="en-US" dirty="0"/>
              <a:t>Subtypes of ALS</a:t>
            </a:r>
          </a:p>
          <a:p>
            <a:pPr lvl="2"/>
            <a:r>
              <a:rPr lang="en-US" dirty="0"/>
              <a:t>Limb</a:t>
            </a:r>
          </a:p>
          <a:p>
            <a:pPr lvl="2"/>
            <a:r>
              <a:rPr lang="en-US" dirty="0"/>
              <a:t>Bulbar</a:t>
            </a:r>
          </a:p>
          <a:p>
            <a:pPr lvl="2"/>
            <a:r>
              <a:rPr lang="en-US" dirty="0"/>
              <a:t>Speech</a:t>
            </a:r>
          </a:p>
        </p:txBody>
      </p:sp>
    </p:spTree>
    <p:extLst>
      <p:ext uri="{BB962C8B-B14F-4D97-AF65-F5344CB8AC3E}">
        <p14:creationId xmlns:p14="http://schemas.microsoft.com/office/powerpoint/2010/main" val="207894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83AF0F-2320-E509-24D8-96CE6A055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Why is it hard to study ALS?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13172-962E-6B0A-671A-998BF43E5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Cancer– biopsies performed at stages to deduce molecular &amp; biological events</a:t>
            </a:r>
          </a:p>
          <a:p>
            <a:r>
              <a:rPr lang="en-US" dirty="0"/>
              <a:t>ALS, </a:t>
            </a:r>
            <a:r>
              <a:rPr lang="en-US" dirty="0" err="1"/>
              <a:t>Alzhiemer’s</a:t>
            </a:r>
            <a:r>
              <a:rPr lang="en-US" dirty="0"/>
              <a:t> – neurodegenerative diseases</a:t>
            </a:r>
          </a:p>
          <a:p>
            <a:r>
              <a:rPr lang="en-US" dirty="0"/>
              <a:t>Brain and spinal cord biopsies not feasible</a:t>
            </a:r>
          </a:p>
          <a:p>
            <a:r>
              <a:rPr lang="en-US" dirty="0"/>
              <a:t>No neural tissue – no effective therapeutic development</a:t>
            </a:r>
          </a:p>
          <a:p>
            <a:r>
              <a:rPr lang="en-US" dirty="0"/>
              <a:t>Alternative – </a:t>
            </a:r>
          </a:p>
          <a:p>
            <a:pPr lvl="1"/>
            <a:r>
              <a:rPr lang="en-US" dirty="0"/>
              <a:t>Stem cell technology</a:t>
            </a:r>
          </a:p>
          <a:p>
            <a:pPr lvl="1"/>
            <a:r>
              <a:rPr lang="en-US" dirty="0"/>
              <a:t>Infer disease pathways from cell lines derived from patient’s blood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707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61B29-0C2B-CF93-6337-7856E6776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Answer ALS program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A7994-89B4-A922-5958-9BC2DEFCF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Objective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Generate </a:t>
            </a:r>
            <a:r>
              <a:rPr lang="en-US" sz="2000" dirty="0" err="1"/>
              <a:t>iPS</a:t>
            </a:r>
            <a:r>
              <a:rPr lang="en-US" sz="2000" dirty="0"/>
              <a:t> cell lines from a large cohort of ALS patients</a:t>
            </a:r>
          </a:p>
          <a:p>
            <a:r>
              <a:rPr lang="en-US" sz="2000" b="1" dirty="0"/>
              <a:t>Focus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Aims to explore the differences in disease mechanisms and molecular profiles among </a:t>
            </a:r>
            <a:r>
              <a:rPr lang="en-US" sz="2000" dirty="0" err="1"/>
              <a:t>sALS</a:t>
            </a:r>
            <a:r>
              <a:rPr lang="en-US" sz="2000" dirty="0"/>
              <a:t> patients </a:t>
            </a:r>
          </a:p>
          <a:p>
            <a:pPr lvl="1"/>
            <a:r>
              <a:rPr lang="en-US" sz="2000" dirty="0"/>
              <a:t>Analyzing spinal neurons derived from their cell</a:t>
            </a:r>
          </a:p>
          <a:p>
            <a:pPr lvl="1"/>
            <a:r>
              <a:rPr lang="en-US" sz="2000" dirty="0"/>
              <a:t>Uncover distinct subtypes and potential therapeutic targets.</a:t>
            </a:r>
          </a:p>
          <a:p>
            <a:r>
              <a:rPr lang="en-US" sz="2000" b="1" dirty="0"/>
              <a:t>Data Used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Omics and Clinical data</a:t>
            </a:r>
          </a:p>
          <a:p>
            <a:r>
              <a:rPr lang="en-US" sz="2000" b="1" dirty="0"/>
              <a:t>Goal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Create a ‘biopsy-like’ model using </a:t>
            </a:r>
            <a:r>
              <a:rPr lang="en-US" sz="2000" dirty="0" err="1"/>
              <a:t>iPS</a:t>
            </a:r>
            <a:r>
              <a:rPr lang="en-US" sz="2000" dirty="0"/>
              <a:t>-derived neurons to study ALS at the cellular level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878609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944483-ADF8-3541-4D92-6EADDD713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162" y="41920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 err="1"/>
              <a:t>fALS</a:t>
            </a:r>
            <a:r>
              <a:rPr lang="en-US" dirty="0"/>
              <a:t> and </a:t>
            </a:r>
            <a:r>
              <a:rPr lang="en-US" dirty="0" err="1"/>
              <a:t>sALS</a:t>
            </a:r>
            <a:endParaRPr lang="en-US" dirty="0"/>
          </a:p>
        </p:txBody>
      </p:sp>
      <p:sp>
        <p:nvSpPr>
          <p:cNvPr id="20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2B6D9-F405-0AC0-FCB8-5035AE7A6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578" y="1984443"/>
            <a:ext cx="10610222" cy="4192520"/>
          </a:xfrm>
        </p:spPr>
        <p:txBody>
          <a:bodyPr>
            <a:normAutofit/>
          </a:bodyPr>
          <a:lstStyle/>
          <a:p>
            <a:r>
              <a:rPr lang="en-US" dirty="0" err="1"/>
              <a:t>iPS</a:t>
            </a:r>
            <a:r>
              <a:rPr lang="en-US" dirty="0"/>
              <a:t> spinal neurons from </a:t>
            </a:r>
            <a:r>
              <a:rPr lang="en-US" dirty="0" err="1"/>
              <a:t>fALS</a:t>
            </a:r>
            <a:r>
              <a:rPr lang="en-US" dirty="0"/>
              <a:t> patients led to first antisense based gene therapy</a:t>
            </a:r>
          </a:p>
          <a:p>
            <a:r>
              <a:rPr lang="en-US" dirty="0"/>
              <a:t>Most cases are </a:t>
            </a:r>
            <a:r>
              <a:rPr lang="en-US" dirty="0" err="1"/>
              <a:t>sALS</a:t>
            </a:r>
            <a:endParaRPr lang="en-US" dirty="0"/>
          </a:p>
          <a:p>
            <a:r>
              <a:rPr lang="en-US" dirty="0" err="1"/>
              <a:t>fALS</a:t>
            </a:r>
            <a:r>
              <a:rPr lang="en-US" dirty="0"/>
              <a:t> – known mutations but wide variability in symptoms</a:t>
            </a:r>
          </a:p>
          <a:p>
            <a:r>
              <a:rPr lang="en-US" dirty="0"/>
              <a:t>Maybe different underlying biological processes</a:t>
            </a:r>
          </a:p>
          <a:p>
            <a:r>
              <a:rPr lang="en-US" dirty="0"/>
              <a:t>ALS is highly heterogenous</a:t>
            </a:r>
          </a:p>
          <a:p>
            <a:r>
              <a:rPr lang="en-US" dirty="0"/>
              <a:t>Studying ALS biological subgroups is key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645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77820-8351-828B-9A52-337E9BBE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Demographic data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F0CBE-E64C-23DB-C7AA-D1A1320B3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730" y="169824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Clinical characteristics comparable to past </a:t>
            </a:r>
            <a:r>
              <a:rPr lang="en-US" dirty="0" err="1"/>
              <a:t>sALS</a:t>
            </a:r>
            <a:r>
              <a:rPr lang="en-US" dirty="0"/>
              <a:t> demographics</a:t>
            </a:r>
          </a:p>
          <a:p>
            <a:r>
              <a:rPr lang="en-US" dirty="0"/>
              <a:t>Slightly higher number of male than female</a:t>
            </a:r>
          </a:p>
          <a:p>
            <a:r>
              <a:rPr lang="en-US" dirty="0"/>
              <a:t>Mostly limb-onset ALS</a:t>
            </a:r>
          </a:p>
          <a:p>
            <a:r>
              <a:rPr lang="en-US" dirty="0"/>
              <a:t>Mean age of disease onset 57 years</a:t>
            </a:r>
          </a:p>
          <a:p>
            <a:r>
              <a:rPr lang="en-US" dirty="0"/>
              <a:t>Higher % of patients with rapid progression had bulbar-onset disease</a:t>
            </a:r>
          </a:p>
          <a:p>
            <a:r>
              <a:rPr lang="en-US" dirty="0" err="1"/>
              <a:t>fALS</a:t>
            </a:r>
            <a:r>
              <a:rPr lang="en-US" dirty="0"/>
              <a:t> patients had C9orf72 and SOD1 mutations</a:t>
            </a:r>
          </a:p>
          <a:p>
            <a:r>
              <a:rPr lang="en-US" dirty="0"/>
              <a:t>Healthy controls – age matched participants w/o ALS</a:t>
            </a:r>
          </a:p>
        </p:txBody>
      </p:sp>
    </p:spTree>
    <p:extLst>
      <p:ext uri="{BB962C8B-B14F-4D97-AF65-F5344CB8AC3E}">
        <p14:creationId xmlns:p14="http://schemas.microsoft.com/office/powerpoint/2010/main" val="395121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33" name="Arc 103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8BB9E-E2FA-75BA-AC07-4A5411FC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581" y="556035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Heterogeneity in ALS progression</a:t>
            </a:r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figure 1">
            <a:extLst>
              <a:ext uri="{FF2B5EF4-FFF2-40B4-BE49-F238E27FC236}">
                <a16:creationId xmlns:a16="http://schemas.microsoft.com/office/drawing/2014/main" id="{8AB9040D-651D-9242-FBD8-E6EDFDCC8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50" r="-321" b="32015"/>
          <a:stretch/>
        </p:blipFill>
        <p:spPr bwMode="auto">
          <a:xfrm>
            <a:off x="95857" y="2437632"/>
            <a:ext cx="4777381" cy="198273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58B14-3178-13EF-BD78-DE2E8A335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069" y="2263416"/>
            <a:ext cx="5458838" cy="4192520"/>
          </a:xfrm>
        </p:spPr>
        <p:txBody>
          <a:bodyPr>
            <a:normAutofit/>
          </a:bodyPr>
          <a:lstStyle/>
          <a:p>
            <a:r>
              <a:rPr lang="en-US" sz="2600" b="1" dirty="0"/>
              <a:t>X-axis:</a:t>
            </a:r>
            <a:r>
              <a:rPr lang="en-US" sz="2600" dirty="0"/>
              <a:t> Represents the </a:t>
            </a:r>
            <a:r>
              <a:rPr lang="en-US" sz="2600" b="1" dirty="0"/>
              <a:t>years since symptom onset</a:t>
            </a:r>
            <a:r>
              <a:rPr lang="en-US" sz="2600" dirty="0"/>
              <a:t> (0 to ~7 years).</a:t>
            </a:r>
          </a:p>
          <a:p>
            <a:r>
              <a:rPr lang="en-US" sz="2600" b="1" dirty="0"/>
              <a:t>Y-axis:</a:t>
            </a:r>
            <a:r>
              <a:rPr lang="en-US" sz="2600" dirty="0"/>
              <a:t> Represents the </a:t>
            </a:r>
            <a:r>
              <a:rPr lang="en-US" sz="2600" b="1" dirty="0"/>
              <a:t>ALSFRS-R total score</a:t>
            </a:r>
            <a:r>
              <a:rPr lang="en-US" sz="2600" dirty="0"/>
              <a:t>, which measures the functional status of ALS patients. </a:t>
            </a:r>
          </a:p>
          <a:p>
            <a:r>
              <a:rPr lang="en-US" sz="2600" dirty="0"/>
              <a:t>A </a:t>
            </a:r>
            <a:r>
              <a:rPr lang="en-US" sz="2600" b="1" dirty="0"/>
              <a:t>higher score indicates better function</a:t>
            </a:r>
            <a:r>
              <a:rPr lang="en-US" sz="2600" dirty="0"/>
              <a:t>, while a </a:t>
            </a:r>
            <a:r>
              <a:rPr lang="en-US" sz="2600" b="1" dirty="0"/>
              <a:t>lower score indicates more severe disease progression</a:t>
            </a:r>
            <a:r>
              <a:rPr 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0758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6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66" name="Arc 206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02B001-C3FA-E5F4-28E4-4B0ED96ED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/>
              <a:t>Data collection</a:t>
            </a:r>
          </a:p>
        </p:txBody>
      </p:sp>
      <p:sp>
        <p:nvSpPr>
          <p:cNvPr id="2068" name="Freeform: Shape 206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0" name="Picture 2" descr="figure 2">
            <a:extLst>
              <a:ext uri="{FF2B5EF4-FFF2-40B4-BE49-F238E27FC236}">
                <a16:creationId xmlns:a16="http://schemas.microsoft.com/office/drawing/2014/main" id="{5C2F1697-2418-7054-9D68-F47964D27A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59" t="31210" r="-413" b="33187"/>
          <a:stretch/>
        </p:blipFill>
        <p:spPr bwMode="auto">
          <a:xfrm>
            <a:off x="703182" y="1539930"/>
            <a:ext cx="4777381" cy="360839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E2F36-4A51-C4EB-2DD7-9EB626AF0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US" sz="2000" dirty="0"/>
              <a:t>Smartphone app to collect elements of </a:t>
            </a:r>
          </a:p>
          <a:p>
            <a:pPr lvl="1"/>
            <a:r>
              <a:rPr lang="en-US" sz="2000" dirty="0"/>
              <a:t>motor activity, </a:t>
            </a:r>
          </a:p>
          <a:p>
            <a:pPr lvl="1"/>
            <a:r>
              <a:rPr lang="en-US" sz="2000" dirty="0"/>
              <a:t>speech, </a:t>
            </a:r>
          </a:p>
          <a:p>
            <a:pPr lvl="1"/>
            <a:r>
              <a:rPr lang="en-US" sz="2000" dirty="0"/>
              <a:t>breathing, </a:t>
            </a:r>
          </a:p>
          <a:p>
            <a:pPr lvl="1"/>
            <a:r>
              <a:rPr lang="en-US" sz="2000" dirty="0"/>
              <a:t>voice and </a:t>
            </a:r>
          </a:p>
          <a:p>
            <a:pPr lvl="1"/>
            <a:r>
              <a:rPr lang="en-US" sz="2000" dirty="0"/>
              <a:t>Cognition</a:t>
            </a:r>
          </a:p>
          <a:p>
            <a:r>
              <a:rPr lang="en-US" sz="2000" b="0" i="0" dirty="0">
                <a:effectLst/>
                <a:latin typeface="Harding"/>
              </a:rPr>
              <a:t>Features from the finger tracing showed modest individual correlations with the ALSFRS-R total score</a:t>
            </a:r>
            <a:endParaRPr lang="en-US" sz="2000" dirty="0"/>
          </a:p>
          <a:p>
            <a:r>
              <a:rPr lang="en-US" sz="2000" dirty="0"/>
              <a:t>Combination of features from all these tasks correlated very highly with ALSFRS-R</a:t>
            </a:r>
          </a:p>
        </p:txBody>
      </p:sp>
    </p:spTree>
    <p:extLst>
      <p:ext uri="{BB962C8B-B14F-4D97-AF65-F5344CB8AC3E}">
        <p14:creationId xmlns:p14="http://schemas.microsoft.com/office/powerpoint/2010/main" val="2070175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8392A-DA56-F39A-A9CD-EAFC853D8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464E4-09F5-999C-0CC4-BEA4939F5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/>
              <a:t>Data</a:t>
            </a:r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0ECF4280-CE0A-8EEA-90AE-E30CA2FD3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82" y="1749678"/>
            <a:ext cx="4777381" cy="318890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9A205-EC52-A3C4-069A-42B683AB3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Features from voice tasks correlated highly with bulbar subdomain of ALSFRS-R score (not shown)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Highest performance was using information from reading task for ALSFRS-R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Harding"/>
              </a:rPr>
              <a:t>subscores</a:t>
            </a:r>
            <a:endParaRPr lang="en-US" b="0" i="0" dirty="0">
              <a:solidFill>
                <a:srgbClr val="222222"/>
              </a:solidFill>
              <a:effectLst/>
              <a:latin typeface="Harding"/>
            </a:endParaRPr>
          </a:p>
          <a:p>
            <a:r>
              <a:rPr lang="en-US" dirty="0">
                <a:solidFill>
                  <a:srgbClr val="222222"/>
                </a:solidFill>
                <a:latin typeface="Harding"/>
              </a:rPr>
              <a:t>C</a:t>
            </a:r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ounting task information produced best result to infer FVC score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96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1E341-8970-A239-2E76-A27285E44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Production of iPS cell line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96B90-22C5-A12A-5C53-D4521A5AD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798897"/>
            <a:ext cx="6906491" cy="5378066"/>
          </a:xfrm>
        </p:spPr>
        <p:txBody>
          <a:bodyPr anchor="ctr">
            <a:normAutofit/>
          </a:bodyPr>
          <a:lstStyle/>
          <a:p>
            <a:r>
              <a:rPr lang="en-US" dirty="0"/>
              <a:t>&gt; 1,000 patients with ALS and control</a:t>
            </a:r>
          </a:p>
          <a:p>
            <a:r>
              <a:rPr lang="en-US" dirty="0"/>
              <a:t>850 </a:t>
            </a:r>
            <a:r>
              <a:rPr lang="en-US" dirty="0" err="1"/>
              <a:t>iPS</a:t>
            </a:r>
            <a:r>
              <a:rPr lang="en-US" dirty="0"/>
              <a:t> cell lines generated and available for public use</a:t>
            </a:r>
          </a:p>
          <a:p>
            <a:r>
              <a:rPr lang="en-US" dirty="0"/>
              <a:t>Uniformity of generated cultures were evaluated</a:t>
            </a:r>
          </a:p>
          <a:p>
            <a:r>
              <a:rPr lang="en-US" dirty="0"/>
              <a:t>Used expression of five cell-identifying markers for neurons and glia</a:t>
            </a:r>
          </a:p>
          <a:p>
            <a:r>
              <a:rPr lang="en-US" dirty="0"/>
              <a:t>Carried out by Cedar-Sinai biomanufacturing center</a:t>
            </a:r>
          </a:p>
        </p:txBody>
      </p:sp>
    </p:spTree>
    <p:extLst>
      <p:ext uri="{BB962C8B-B14F-4D97-AF65-F5344CB8AC3E}">
        <p14:creationId xmlns:p14="http://schemas.microsoft.com/office/powerpoint/2010/main" val="3759754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EDAD5-8BC0-BDB3-1DBE-5F3B1355F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Multi-omics data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A8434-D67F-256F-EE01-A3F9EC4E8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5693343" cy="3483864"/>
          </a:xfrm>
        </p:spPr>
        <p:txBody>
          <a:bodyPr>
            <a:normAutofit/>
          </a:bodyPr>
          <a:lstStyle/>
          <a:p>
            <a:r>
              <a:rPr lang="en-US" sz="2200" dirty="0"/>
              <a:t>Genomics</a:t>
            </a:r>
          </a:p>
          <a:p>
            <a:pPr lvl="1"/>
            <a:r>
              <a:rPr lang="en-US" sz="2200" dirty="0"/>
              <a:t>Cohort was evaluated using NYGC’s ancestry pipeline</a:t>
            </a:r>
          </a:p>
          <a:p>
            <a:pPr lvl="1"/>
            <a:r>
              <a:rPr lang="en-US" sz="2200" dirty="0"/>
              <a:t>White  and European descent (91.45%), Africa (4.94%), east Asia(1.33%) and south Asia (0.6%)</a:t>
            </a:r>
          </a:p>
          <a:p>
            <a:pPr lvl="1"/>
            <a:r>
              <a:rPr lang="en-US" sz="2200" dirty="0"/>
              <a:t>The samples with African descent had a higher number of variants than other ethnic populations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endParaRPr lang="en-US" sz="2200" dirty="0"/>
          </a:p>
        </p:txBody>
      </p:sp>
      <p:pic>
        <p:nvPicPr>
          <p:cNvPr id="5" name="Picture 4" descr="A graph with black dots and white text&#10;&#10;Description automatically generated">
            <a:extLst>
              <a:ext uri="{FF2B5EF4-FFF2-40B4-BE49-F238E27FC236}">
                <a16:creationId xmlns:a16="http://schemas.microsoft.com/office/drawing/2014/main" id="{37B53226-F35B-FF91-125C-C031575EF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51124"/>
            <a:ext cx="2853223" cy="2987669"/>
          </a:xfrm>
          <a:prstGeom prst="rect">
            <a:avLst/>
          </a:prstGeom>
        </p:spPr>
      </p:pic>
      <p:pic>
        <p:nvPicPr>
          <p:cNvPr id="7" name="Picture 6" descr="A chart with numbers and dots&#10;&#10;Description automatically generated with medium confidence">
            <a:extLst>
              <a:ext uri="{FF2B5EF4-FFF2-40B4-BE49-F238E27FC236}">
                <a16:creationId xmlns:a16="http://schemas.microsoft.com/office/drawing/2014/main" id="{23A3759C-0077-A7D8-6A98-E5A8CBB25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3098" y="3272590"/>
            <a:ext cx="4915063" cy="325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84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AE7848-E47B-3189-8950-5798C5A9E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A4A73F-A714-148D-A2B7-84B886192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Multi-omics data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0D0F2-B260-487D-C841-F8EDEE1C7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 dirty="0"/>
              <a:t>Variants</a:t>
            </a:r>
          </a:p>
          <a:p>
            <a:pPr lvl="1"/>
            <a:r>
              <a:rPr lang="en-US" sz="2200" dirty="0"/>
              <a:t>In 830 samples, observed 440 </a:t>
            </a:r>
            <a:r>
              <a:rPr lang="en-US" sz="2200" dirty="0" err="1"/>
              <a:t>exonic</a:t>
            </a:r>
            <a:r>
              <a:rPr lang="en-US" sz="2200" dirty="0"/>
              <a:t> variants in 33-ALS genes</a:t>
            </a:r>
          </a:p>
          <a:p>
            <a:pPr lvl="1"/>
            <a:r>
              <a:rPr lang="en-US" sz="2200" dirty="0"/>
              <a:t>33-ALS genes – curated list of genes associated with ALS</a:t>
            </a:r>
          </a:p>
          <a:p>
            <a:r>
              <a:rPr lang="en-US" sz="2200" dirty="0"/>
              <a:t>Rare variants (&lt;1% frequency):79% were SNPs</a:t>
            </a:r>
          </a:p>
          <a:p>
            <a:pPr lvl="1"/>
            <a:r>
              <a:rPr lang="en-US" sz="2200" dirty="0"/>
              <a:t>Other types: splicing, frameshift deletions/insertions, stop-gain mutations.</a:t>
            </a:r>
          </a:p>
          <a:p>
            <a:endParaRPr lang="en-US" sz="2200" dirty="0"/>
          </a:p>
        </p:txBody>
      </p:sp>
      <p:pic>
        <p:nvPicPr>
          <p:cNvPr id="11" name="Picture 10" descr="A graph of different types of type of objects&#10;&#10;Description automatically generated with medium confidence">
            <a:extLst>
              <a:ext uri="{FF2B5EF4-FFF2-40B4-BE49-F238E27FC236}">
                <a16:creationId xmlns:a16="http://schemas.microsoft.com/office/drawing/2014/main" id="{F67C1942-5751-B72D-0467-3ED305CCE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886" y="3428031"/>
            <a:ext cx="2718249" cy="3429969"/>
          </a:xfrm>
          <a:prstGeom prst="rect">
            <a:avLst/>
          </a:prstGeom>
        </p:spPr>
      </p:pic>
      <p:pic>
        <p:nvPicPr>
          <p:cNvPr id="9" name="Picture 8" descr="A graph with black dots and white text&#10;&#10;Description automatically generated">
            <a:extLst>
              <a:ext uri="{FF2B5EF4-FFF2-40B4-BE49-F238E27FC236}">
                <a16:creationId xmlns:a16="http://schemas.microsoft.com/office/drawing/2014/main" id="{20D85127-0794-B39E-3804-829BF9F20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2886" y="102586"/>
            <a:ext cx="2826626" cy="332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3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6AC8DB-1F4F-9726-3BC7-E7606D3E3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Pathogenic Variants in ALS Genes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15D3511-96D4-07CF-44BC-F59913C4DF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2213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42473-843F-53C3-36DD-4A0BE7C88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Rare High-Confidence ALS Variants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A7C72-D637-3042-2F8E-07869D600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Identified pathogenic or likely pathogenic (P/LP) variants using multiple classification methods:</a:t>
            </a:r>
          </a:p>
          <a:p>
            <a:pPr lvl="1"/>
            <a:r>
              <a:rPr lang="en-US" dirty="0" err="1"/>
              <a:t>InterVar</a:t>
            </a:r>
            <a:r>
              <a:rPr lang="en-US" dirty="0"/>
              <a:t> (IP), in silico prediction (ISD), ACMG criteria, family-based segregation.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12 genes curated as high-confidence causal ALS genes, including:</a:t>
            </a:r>
          </a:p>
          <a:p>
            <a:pPr lvl="1"/>
            <a:r>
              <a:rPr lang="en-US" dirty="0"/>
              <a:t>ALS2, CCNF, CHCHD10, FUS, OPTN, PFN1, SOD1, TARDBP, TBK1, UBQLN2, VAPB, VCP.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956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C60320-29FF-5EB5-485F-189735CDB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C9orf72 and ATXN2 Expansions</a:t>
            </a:r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452F-8FA6-9E11-44E7-DB29273C5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Repeat expansions in C9orf72 and ATXN2 linked to both familial (fALS) and sporadic ALS (sALS).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Findings from 830 samples:</a:t>
            </a:r>
          </a:p>
          <a:p>
            <a:pPr lvl="1"/>
            <a:r>
              <a:rPr lang="en-US" sz="2000"/>
              <a:t>41 ALS patients &amp; 4 pre-fALS individuals had &gt;26 hexanucleotide repeats in C9orf72.</a:t>
            </a:r>
          </a:p>
          <a:p>
            <a:pPr lvl="1"/>
            <a:r>
              <a:rPr lang="en-US" sz="2000"/>
              <a:t>35 ALS patients, 4 controls, 1 uncharacterized individual had &gt;26 ATXN2 CAG repeats.</a:t>
            </a:r>
          </a:p>
        </p:txBody>
      </p:sp>
      <p:pic>
        <p:nvPicPr>
          <p:cNvPr id="3074" name="Picture 2" descr="Fig. 4">
            <a:extLst>
              <a:ext uri="{FF2B5EF4-FFF2-40B4-BE49-F238E27FC236}">
                <a16:creationId xmlns:a16="http://schemas.microsoft.com/office/drawing/2014/main" id="{9F32F4DE-79E6-7736-9196-0D2D0E56CD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73" t="46932" r="29" b="28116"/>
          <a:stretch/>
        </p:blipFill>
        <p:spPr bwMode="auto">
          <a:xfrm>
            <a:off x="5911532" y="3452570"/>
            <a:ext cx="5150277" cy="1777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5" name="Rectangle 308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44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71054-E797-EDD0-3461-F92F97A2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C9orf72 and ATXN2 Expansions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F2959-F5C4-BA77-60DB-AD3F27008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correlation between ALS onset age and expansion size.</a:t>
            </a:r>
          </a:p>
          <a:p>
            <a:r>
              <a:rPr lang="en-US" dirty="0"/>
              <a:t>Future multi-</a:t>
            </a:r>
            <a:r>
              <a:rPr lang="en-US" dirty="0" err="1"/>
              <a:t>omic</a:t>
            </a:r>
            <a:r>
              <a:rPr lang="en-US" dirty="0"/>
              <a:t> studies may reveal new biological pathways in patients carrying both expansions.</a:t>
            </a:r>
          </a:p>
          <a:p>
            <a:endParaRPr lang="en-US" dirty="0"/>
          </a:p>
        </p:txBody>
      </p:sp>
      <p:pic>
        <p:nvPicPr>
          <p:cNvPr id="4098" name="Picture 2" descr="Fig. 4">
            <a:extLst>
              <a:ext uri="{FF2B5EF4-FFF2-40B4-BE49-F238E27FC236}">
                <a16:creationId xmlns:a16="http://schemas.microsoft.com/office/drawing/2014/main" id="{FD504894-D41E-2841-A818-706EC9F1A6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71941"/>
          <a:stretch/>
        </p:blipFill>
        <p:spPr bwMode="auto">
          <a:xfrm>
            <a:off x="2448448" y="3644779"/>
            <a:ext cx="6682820" cy="253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3310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986472-E5C2-FD1A-DA28-BDA541CF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F21ED5-B220-D452-E30B-68B3310F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Multi-omics data</a:t>
            </a:r>
            <a:endParaRPr lang="en-US" sz="5400" dirty="0"/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B2E5E-9A40-C3E8-AB6B-FD294E312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 dirty="0"/>
              <a:t>Transcriptomics</a:t>
            </a:r>
          </a:p>
          <a:p>
            <a:pPr lvl="1"/>
            <a:r>
              <a:rPr lang="en-US" sz="2000" dirty="0"/>
              <a:t>Used the same batch of motor neurons for all omics</a:t>
            </a:r>
          </a:p>
          <a:p>
            <a:pPr lvl="1"/>
            <a:r>
              <a:rPr lang="en-US" sz="2000" dirty="0"/>
              <a:t>Used batch differentiation controls and batch technical controls</a:t>
            </a:r>
          </a:p>
          <a:p>
            <a:pPr lvl="1"/>
            <a:r>
              <a:rPr lang="en-US" sz="2000" dirty="0"/>
              <a:t>Minimal technical confounders</a:t>
            </a:r>
          </a:p>
        </p:txBody>
      </p:sp>
      <p:pic>
        <p:nvPicPr>
          <p:cNvPr id="7" name="Picture 6" descr="A graph of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58ACC2FF-F7D8-048F-7875-2F927E86D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271587"/>
            <a:ext cx="690372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55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A9132-EE97-6DC7-73E8-7341D987B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25A8C-6352-58B3-94BE-F91C63A08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440365"/>
            <a:ext cx="4245864" cy="1722691"/>
          </a:xfrm>
        </p:spPr>
        <p:txBody>
          <a:bodyPr anchor="ctr">
            <a:normAutofit/>
          </a:bodyPr>
          <a:lstStyle/>
          <a:p>
            <a:r>
              <a:rPr lang="en-US" sz="5400"/>
              <a:t>Multi-omics data</a:t>
            </a:r>
            <a:endParaRPr lang="en-US" sz="5400" dirty="0"/>
          </a:p>
        </p:txBody>
      </p:sp>
      <p:pic>
        <p:nvPicPr>
          <p:cNvPr id="7" name="Picture 6" descr="A chart of a group of negative results&#10;&#10;Description automatically generated with medium confidence">
            <a:extLst>
              <a:ext uri="{FF2B5EF4-FFF2-40B4-BE49-F238E27FC236}">
                <a16:creationId xmlns:a16="http://schemas.microsoft.com/office/drawing/2014/main" id="{31C49B5C-5B9D-C1C5-C68E-2FAEDD4A3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3092"/>
            <a:ext cx="3941933" cy="422727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 descr="A chart of a number of dna&#10;&#10;Description automatically generated with medium confidence">
            <a:extLst>
              <a:ext uri="{FF2B5EF4-FFF2-40B4-BE49-F238E27FC236}">
                <a16:creationId xmlns:a16="http://schemas.microsoft.com/office/drawing/2014/main" id="{740FABDB-411F-5B43-6F87-A288DFFAD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01" y="156976"/>
            <a:ext cx="4400498" cy="42833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5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7304" y="529256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D38F5-2F81-F39F-CCC0-159DE71F3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9" y="4440365"/>
            <a:ext cx="6214871" cy="1722691"/>
          </a:xfrm>
        </p:spPr>
        <p:txBody>
          <a:bodyPr anchor="ctr">
            <a:normAutofit/>
          </a:bodyPr>
          <a:lstStyle/>
          <a:p>
            <a:r>
              <a:rPr lang="en-US" sz="2200" dirty="0"/>
              <a:t>Transcriptomics</a:t>
            </a:r>
          </a:p>
          <a:p>
            <a:pPr lvl="1"/>
            <a:r>
              <a:rPr lang="en-US" sz="2200" dirty="0"/>
              <a:t>Findings consistent with past work on ALS</a:t>
            </a:r>
          </a:p>
        </p:txBody>
      </p:sp>
    </p:spTree>
    <p:extLst>
      <p:ext uri="{BB962C8B-B14F-4D97-AF65-F5344CB8AC3E}">
        <p14:creationId xmlns:p14="http://schemas.microsoft.com/office/powerpoint/2010/main" val="1252979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6D9B0-5FA4-1F7B-F6E9-854E498EB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C1BEB-3AA5-7D83-ED31-387D5D28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Multi-omics data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9BE73-F572-FFC0-1644-606B0DA51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000"/>
              <a:t>Epigenetics and Proteomics</a:t>
            </a:r>
          </a:p>
          <a:p>
            <a:pPr lvl="1"/>
            <a:r>
              <a:rPr lang="en-US" sz="2000"/>
              <a:t>Minimal technical confounders</a:t>
            </a:r>
          </a:p>
          <a:p>
            <a:pPr lvl="1"/>
            <a:r>
              <a:rPr lang="en-US" sz="2000"/>
              <a:t>For epigenetic data, many loci show strong differences between patients and controls</a:t>
            </a:r>
          </a:p>
          <a:p>
            <a:pPr lvl="1"/>
            <a:r>
              <a:rPr lang="en-US" sz="2000"/>
              <a:t>Overrepresentation of TFs implicated in neuronal differentiation</a:t>
            </a:r>
          </a:p>
          <a:p>
            <a:pPr lvl="1"/>
            <a:r>
              <a:rPr lang="en-US" sz="2000"/>
              <a:t>Proteomic data has many proteins showing DE between ALS and control</a:t>
            </a:r>
          </a:p>
          <a:p>
            <a:pPr lvl="1"/>
            <a:endParaRPr lang="en-US" sz="2000"/>
          </a:p>
        </p:txBody>
      </p:sp>
      <p:pic>
        <p:nvPicPr>
          <p:cNvPr id="5" name="Picture 4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4B5FB256-B92E-710C-9EEB-96E86E166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682130"/>
            <a:ext cx="5458968" cy="349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102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FDB8-6CE8-EDCE-BF10-02BA6FF6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37501" cy="1325563"/>
          </a:xfrm>
        </p:spPr>
        <p:txBody>
          <a:bodyPr/>
          <a:lstStyle/>
          <a:p>
            <a:r>
              <a:rPr lang="en-US"/>
              <a:t>How did they use clinical data and omics data?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2CF36C-5C91-F1FC-9E6F-EE744DA89F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0347866"/>
              </p:ext>
            </p:extLst>
          </p:nvPr>
        </p:nvGraphicFramePr>
        <p:xfrm>
          <a:off x="838200" y="1825625"/>
          <a:ext cx="1026522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3368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3E03-DE0F-6105-86EB-408D558B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Harding"/>
              </a:rPr>
              <a:t>Can reprogrammed human spinal neurons reflect adult-onset disease pathogenic cascades?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8FD52-5841-2ACE-2EB4-CB9014903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6447"/>
            <a:ext cx="1051560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Multiple studies</a:t>
            </a:r>
            <a:r>
              <a:rPr lang="en-US" dirty="0"/>
              <a:t> show that human </a:t>
            </a:r>
            <a:r>
              <a:rPr lang="en-US" dirty="0" err="1"/>
              <a:t>iPS</a:t>
            </a:r>
            <a:r>
              <a:rPr lang="en-US" dirty="0"/>
              <a:t> cells can replicate </a:t>
            </a:r>
            <a:r>
              <a:rPr lang="en-US" b="1" dirty="0"/>
              <a:t>brain pathology</a:t>
            </a:r>
            <a:r>
              <a:rPr lang="en-US" dirty="0"/>
              <a:t> seen in 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iPS</a:t>
            </a:r>
            <a:r>
              <a:rPr lang="en-US" dirty="0"/>
              <a:t> cells can be cultured in:</a:t>
            </a:r>
          </a:p>
          <a:p>
            <a:pPr lvl="1"/>
            <a:r>
              <a:rPr lang="en-US" b="1" dirty="0"/>
              <a:t>2D models</a:t>
            </a:r>
            <a:r>
              <a:rPr lang="en-US" dirty="0"/>
              <a:t> (traditional cell cultures).</a:t>
            </a:r>
          </a:p>
          <a:p>
            <a:pPr lvl="1"/>
            <a:r>
              <a:rPr lang="en-US" b="1" dirty="0"/>
              <a:t>3D organoids</a:t>
            </a:r>
            <a:r>
              <a:rPr lang="en-US" dirty="0"/>
              <a:t> (miniature brain/spinal cord models).</a:t>
            </a:r>
          </a:p>
          <a:p>
            <a:r>
              <a:rPr lang="en-US" dirty="0"/>
              <a:t>These models help study </a:t>
            </a:r>
            <a:r>
              <a:rPr lang="en-US" b="1" dirty="0"/>
              <a:t>disease mechanisms in a controlled environment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2585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15DC-B80E-9F7D-535B-880D0FCE1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7791" cy="1325563"/>
          </a:xfrm>
        </p:spPr>
        <p:txBody>
          <a:bodyPr/>
          <a:lstStyle/>
          <a:p>
            <a:r>
              <a:rPr lang="en-US" dirty="0"/>
              <a:t>How are iPSC different from real patient cells?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51986-9AAC-04F6-0C3C-A95C8A786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iPSC cells are created from patients</a:t>
            </a:r>
          </a:p>
          <a:p>
            <a:r>
              <a:rPr lang="en-US" dirty="0"/>
              <a:t>They are differentiated to motor neurons and astrocytes which are cells affected in ALS</a:t>
            </a:r>
          </a:p>
          <a:p>
            <a:r>
              <a:rPr lang="en-US" dirty="0"/>
              <a:t>Real patient cells are hard to obtain because you can’t obtain neural cells to conduct biopsies</a:t>
            </a:r>
          </a:p>
          <a:p>
            <a:r>
              <a:rPr lang="en-US" dirty="0"/>
              <a:t>iPSC cells allow you to obtain tissue and organ biopsies without invasive methods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512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146D-C794-948D-650B-067BD9337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patient samples available for ALS?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1065A-4C22-E364-1477-2499D6FB2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http://www.alsa.org/research/focus-areas/biomarkers/biorepositories.html</a:t>
            </a:r>
            <a:endParaRPr lang="en-US" dirty="0"/>
          </a:p>
          <a:p>
            <a:r>
              <a:rPr lang="en-US" dirty="0">
                <a:hlinkClick r:id="rId3"/>
              </a:rPr>
              <a:t>https://www.cdc.gov/als/php/abstracts-publications-reports/prevalence-2022-2030.html</a:t>
            </a:r>
            <a:endParaRPr lang="en-US" dirty="0"/>
          </a:p>
          <a:p>
            <a:r>
              <a:rPr lang="en-US" dirty="0">
                <a:hlinkClick r:id="rId4"/>
              </a:rPr>
              <a:t>https://www.targetals.org/2024/02/05/biofluid-samples-from-natural-history-study-available-for-global-distribution/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596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B3B0D-40BB-8F9A-4B21-6C3987E09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Ideas for 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60D04-B8AB-D750-7B78-ED0F44AD9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Ideas</a:t>
            </a:r>
          </a:p>
          <a:p>
            <a:pPr lvl="1"/>
            <a:r>
              <a:rPr lang="en-US" dirty="0"/>
              <a:t>Develop an omics informed predictive model for </a:t>
            </a:r>
            <a:r>
              <a:rPr lang="en-US" dirty="0" err="1"/>
              <a:t>sALS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Use machine learning to find patterns that correlate with rapid or slow progression of disease?</a:t>
            </a:r>
          </a:p>
          <a:p>
            <a:pPr lvl="1"/>
            <a:r>
              <a:rPr lang="en-US" dirty="0"/>
              <a:t>Use machine learning to identify a panel of biomarkers that can differentiate ALS patients from controls and predict disease onset in at-risk individuals?</a:t>
            </a:r>
          </a:p>
          <a:p>
            <a:pPr lvl="1"/>
            <a:r>
              <a:rPr lang="en-US" dirty="0"/>
              <a:t>Predict disease using features captured in the smartphone application data?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105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12667</TotalTime>
  <Words>1362</Words>
  <Application>Microsoft Macintosh PowerPoint</Application>
  <PresentationFormat>Widescreen</PresentationFormat>
  <Paragraphs>160</Paragraphs>
  <Slides>24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Google Sans</vt:lpstr>
      <vt:lpstr>Harding</vt:lpstr>
      <vt:lpstr>Helvetica</vt:lpstr>
      <vt:lpstr>Office Theme</vt:lpstr>
      <vt:lpstr>PowerPoint Presentation</vt:lpstr>
      <vt:lpstr>ALS - amyotrophic lateral sclerosis</vt:lpstr>
      <vt:lpstr>Why is it hard to study ALS?</vt:lpstr>
      <vt:lpstr>Answer ALS program</vt:lpstr>
      <vt:lpstr>fALS and sALS</vt:lpstr>
      <vt:lpstr>Demographic data</vt:lpstr>
      <vt:lpstr>Heterogeneity in ALS progression</vt:lpstr>
      <vt:lpstr>Data collection</vt:lpstr>
      <vt:lpstr>Data</vt:lpstr>
      <vt:lpstr>Production of iPS cell line</vt:lpstr>
      <vt:lpstr>Multi-omics data</vt:lpstr>
      <vt:lpstr>Multi-omics data</vt:lpstr>
      <vt:lpstr>Pathogenic Variants in ALS Genes</vt:lpstr>
      <vt:lpstr>Rare High-Confidence ALS Variants</vt:lpstr>
      <vt:lpstr>C9orf72 and ATXN2 Expansions</vt:lpstr>
      <vt:lpstr>C9orf72 and ATXN2 Expansions</vt:lpstr>
      <vt:lpstr>Multi-omics data</vt:lpstr>
      <vt:lpstr>Multi-omics data</vt:lpstr>
      <vt:lpstr>Multi-omics data</vt:lpstr>
      <vt:lpstr>How did they use clinical data and omics data?</vt:lpstr>
      <vt:lpstr>Can reprogrammed human spinal neurons reflect adult-onset disease pathogenic cascades?</vt:lpstr>
      <vt:lpstr>How are iPSC different from real patient cells?</vt:lpstr>
      <vt:lpstr>Any patient samples available for ALS?</vt:lpstr>
      <vt:lpstr>Ideas for us?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Bhandary, Priyanka</dc:creator>
  <cp:lastModifiedBy>Bhandary, Priyanka</cp:lastModifiedBy>
  <cp:revision>11</cp:revision>
  <dcterms:created xsi:type="dcterms:W3CDTF">2024-09-04T17:07:31Z</dcterms:created>
  <dcterms:modified xsi:type="dcterms:W3CDTF">2025-03-05T19:42:29Z</dcterms:modified>
</cp:coreProperties>
</file>