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0" r:id="rId3"/>
    <p:sldId id="257" r:id="rId4"/>
    <p:sldId id="262" r:id="rId5"/>
    <p:sldId id="258" r:id="rId6"/>
    <p:sldId id="259" r:id="rId7"/>
    <p:sldId id="263" r:id="rId8"/>
    <p:sldId id="264" r:id="rId9"/>
    <p:sldId id="265" r:id="rId10"/>
    <p:sldId id="266" r:id="rId11"/>
    <p:sldId id="267" r:id="rId12"/>
    <p:sldId id="268" r:id="rId13"/>
    <p:sldId id="261"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68"/>
  </p:normalViewPr>
  <p:slideViewPr>
    <p:cSldViewPr snapToGrid="0">
      <p:cViewPr varScale="1">
        <p:scale>
          <a:sx n="126" d="100"/>
          <a:sy n="126" d="100"/>
        </p:scale>
        <p:origin x="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EE1B9-C104-834D-BC49-D82D3D75A6A9}" type="datetimeFigureOut">
              <a:rPr lang="en-US" smtClean="0"/>
              <a:t>4/1/25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69B00-8617-6E4E-89E0-6051C897422F}" type="slidenum">
              <a:rPr lang="en-US" smtClean="0"/>
              <a:t>‹#›</a:t>
            </a:fld>
            <a:endParaRPr lang="en-US"/>
          </a:p>
        </p:txBody>
      </p:sp>
    </p:spTree>
    <p:extLst>
      <p:ext uri="{BB962C8B-B14F-4D97-AF65-F5344CB8AC3E}">
        <p14:creationId xmlns:p14="http://schemas.microsoft.com/office/powerpoint/2010/main" val="1893288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869B00-8617-6E4E-89E0-6051C897422F}" type="slidenum">
              <a:rPr lang="en-US" smtClean="0"/>
              <a:t>3</a:t>
            </a:fld>
            <a:endParaRPr lang="en-US"/>
          </a:p>
        </p:txBody>
      </p:sp>
    </p:spTree>
    <p:extLst>
      <p:ext uri="{BB962C8B-B14F-4D97-AF65-F5344CB8AC3E}">
        <p14:creationId xmlns:p14="http://schemas.microsoft.com/office/powerpoint/2010/main" val="4448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0EFF6-6939-8722-2724-F3B55CE586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D1594-BB57-75D3-B7E2-B3173B610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250B22-8607-03C4-0C6E-32020C3010C9}"/>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CED57766-6F3D-A10F-270E-C15E547C9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58F2F-6944-D4EF-3819-B1CEC683FEB1}"/>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2622535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3B676-7F3F-D022-CDC3-8EDBFCA7F3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ACFCF3-47CC-9F0B-D001-26E93F610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5D17E-10F0-8D3C-8EB9-B57183528C1A}"/>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6F9F8154-F4FD-BBE9-F534-4CE63C095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FE4B1-826B-47EA-5E12-0D476C919B70}"/>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797514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21A45-A937-C9F0-6694-1326F6A388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4D420A-2545-56DE-B080-64B47B6C1A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32A3EB-32A4-7767-0DC1-2E85330E0517}"/>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1F9E882F-E767-721F-97B3-650A6FA25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AE1D7F-DDD2-D6C0-EC9A-8243712C7E74}"/>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1167829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7C50C-D617-A2C0-0CCC-61B7023F2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F577FC-E1E7-C32C-D10E-5F8422E8E1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595C72-099C-CBDC-53A6-B1781D82FD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B5FEB9-D5CD-8961-999A-53E71099E2B1}"/>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6" name="Footer Placeholder 5">
            <a:extLst>
              <a:ext uri="{FF2B5EF4-FFF2-40B4-BE49-F238E27FC236}">
                <a16:creationId xmlns:a16="http://schemas.microsoft.com/office/drawing/2014/main" id="{66F734FF-EA1F-6A9D-ADE2-B59AC5B0A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7ECE4D-D00F-6713-A819-0612BB38632A}"/>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1882332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D6C3-15A0-6733-3000-82EC305770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9BFE5-C967-8980-A656-42190DBFDC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9F370-E8EC-F68B-054D-FEE85CFC7D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159177-2C8E-E890-D1E6-F0E6EE04A6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264C23-75B8-0561-8461-6FE09D527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DA0488-51B7-DDE4-B54A-E6EDED7978D6}"/>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8" name="Footer Placeholder 7">
            <a:extLst>
              <a:ext uri="{FF2B5EF4-FFF2-40B4-BE49-F238E27FC236}">
                <a16:creationId xmlns:a16="http://schemas.microsoft.com/office/drawing/2014/main" id="{593DEAF4-5BD7-32AF-566D-43B9D6D9EF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C7AC4C-2CE6-8D88-8D11-443BE2C1809E}"/>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61529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4478-D290-C46C-9412-A151031563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19E00C-C1E9-75E0-380C-198D5B9217E7}"/>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4" name="Footer Placeholder 3">
            <a:extLst>
              <a:ext uri="{FF2B5EF4-FFF2-40B4-BE49-F238E27FC236}">
                <a16:creationId xmlns:a16="http://schemas.microsoft.com/office/drawing/2014/main" id="{41343E05-C692-F327-2186-1B54F15B29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4296DA-89D7-F50B-30AC-B0B97082EB7E}"/>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478500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062849-3D16-462E-9B07-12DA6685F555}"/>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3" name="Footer Placeholder 2">
            <a:extLst>
              <a:ext uri="{FF2B5EF4-FFF2-40B4-BE49-F238E27FC236}">
                <a16:creationId xmlns:a16="http://schemas.microsoft.com/office/drawing/2014/main" id="{61459FA2-ED66-992C-0A1D-F0D729B3F9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12AB3C-F720-501B-2749-211ED1F164F5}"/>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73325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CBBA-EAD1-38AE-D7D5-6B06A9DD6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51053C-9C86-3263-E9C4-B03DFDB89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744A18-C3D1-B480-0A41-77010DCF67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74FB3A-A324-86AC-7FD4-2A06BCD31297}"/>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6" name="Footer Placeholder 5">
            <a:extLst>
              <a:ext uri="{FF2B5EF4-FFF2-40B4-BE49-F238E27FC236}">
                <a16:creationId xmlns:a16="http://schemas.microsoft.com/office/drawing/2014/main" id="{441C353C-B65B-A162-50C3-A92A84ACD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561A2-27FF-902B-F0E3-971E9AF5D88A}"/>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2978756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9824-4853-1482-9A25-49E6F6DE1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1CCF60-8872-B76F-34D7-8066B6AE7C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36FAE8-B7AA-B926-C0F5-5DCEA96DC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34A78-0D58-4960-6B26-50195E9D4F5B}"/>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6" name="Footer Placeholder 5">
            <a:extLst>
              <a:ext uri="{FF2B5EF4-FFF2-40B4-BE49-F238E27FC236}">
                <a16:creationId xmlns:a16="http://schemas.microsoft.com/office/drawing/2014/main" id="{2A1BFF22-CB7B-3E2E-FA47-2C6D9CF47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A84BBA-5F51-4621-F090-7287B564D379}"/>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2563931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BDA9-7373-9FE8-2ABC-B3D0681B1F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4ED98A-9E5B-9F1E-4D61-34D930865B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ABF36-D9B0-9FF2-F70D-2106A1EFCDEC}"/>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59CD55ED-2910-E599-EAD6-3EB912434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69A3F-AC23-DDBE-CF3B-6522C0EF49C6}"/>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2680174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F25BD6-D554-FD07-216F-406680161E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FA3D37-74F6-BC0F-68B3-2B201640B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FC90C-8774-F96C-9EC6-99949C8D436A}"/>
              </a:ext>
            </a:extLst>
          </p:cNvPr>
          <p:cNvSpPr>
            <a:spLocks noGrp="1"/>
          </p:cNvSpPr>
          <p:nvPr>
            <p:ph type="dt" sz="half" idx="10"/>
          </p:nvPr>
        </p:nvSpPr>
        <p:spPr/>
        <p:txBody>
          <a:body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3F609E1B-CE06-2603-5F6F-53C0612100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B97E-FA40-FDB7-03E4-C7C1BFB40D48}"/>
              </a:ext>
            </a:extLst>
          </p:cNvPr>
          <p:cNvSpPr>
            <a:spLocks noGrp="1"/>
          </p:cNvSpPr>
          <p:nvPr>
            <p:ph type="sldNum" sz="quarter" idx="12"/>
          </p:nvPr>
        </p:nvSpPr>
        <p:spPr/>
        <p:txBody>
          <a:bodyPr/>
          <a:lstStyle/>
          <a:p>
            <a:fld id="{B3BDAD7A-3BC6-F64B-91DB-8474D0EA5D31}" type="slidenum">
              <a:rPr lang="en-US" smtClean="0"/>
              <a:t>‹#›</a:t>
            </a:fld>
            <a:endParaRPr lang="en-US"/>
          </a:p>
        </p:txBody>
      </p:sp>
    </p:spTree>
    <p:extLst>
      <p:ext uri="{BB962C8B-B14F-4D97-AF65-F5344CB8AC3E}">
        <p14:creationId xmlns:p14="http://schemas.microsoft.com/office/powerpoint/2010/main" val="134306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1D875-9655-22A0-09C8-4B2AC4796F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370C60-C5EA-FDA1-9EA0-75E182E1B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6F50A9-6D37-B63F-E716-3F804A5251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E541EB-E4BE-3D49-87F3-55E058D0736D}" type="datetimeFigureOut">
              <a:rPr lang="en-US" smtClean="0"/>
              <a:t>3/31/25</a:t>
            </a:fld>
            <a:endParaRPr lang="en-US"/>
          </a:p>
        </p:txBody>
      </p:sp>
      <p:sp>
        <p:nvSpPr>
          <p:cNvPr id="5" name="Footer Placeholder 4">
            <a:extLst>
              <a:ext uri="{FF2B5EF4-FFF2-40B4-BE49-F238E27FC236}">
                <a16:creationId xmlns:a16="http://schemas.microsoft.com/office/drawing/2014/main" id="{8185C2CC-AE6F-A287-9781-ABE1CD7B6E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548F81-6A41-8246-8262-C7D09D526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BDAD7A-3BC6-F64B-91DB-8474D0EA5D31}" type="slidenum">
              <a:rPr lang="en-US" smtClean="0"/>
              <a:t>‹#›</a:t>
            </a:fld>
            <a:endParaRPr lang="en-US"/>
          </a:p>
        </p:txBody>
      </p:sp>
    </p:spTree>
    <p:extLst>
      <p:ext uri="{BB962C8B-B14F-4D97-AF65-F5344CB8AC3E}">
        <p14:creationId xmlns:p14="http://schemas.microsoft.com/office/powerpoint/2010/main" val="1678370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4CBD-BF28-509A-097E-27E245ECBB08}"/>
              </a:ext>
            </a:extLst>
          </p:cNvPr>
          <p:cNvSpPr>
            <a:spLocks noGrp="1"/>
          </p:cNvSpPr>
          <p:nvPr>
            <p:ph type="ctrTitle"/>
          </p:nvPr>
        </p:nvSpPr>
        <p:spPr/>
        <p:txBody>
          <a:bodyPr/>
          <a:lstStyle/>
          <a:p>
            <a:r>
              <a:rPr lang="en-US" dirty="0"/>
              <a:t>Fast and slow progressors in ALS</a:t>
            </a:r>
          </a:p>
        </p:txBody>
      </p:sp>
      <p:sp>
        <p:nvSpPr>
          <p:cNvPr id="3" name="Subtitle 2">
            <a:extLst>
              <a:ext uri="{FF2B5EF4-FFF2-40B4-BE49-F238E27FC236}">
                <a16:creationId xmlns:a16="http://schemas.microsoft.com/office/drawing/2014/main" id="{FEF7D58D-4E10-6266-DCCE-490DAF32CF4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80052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964B-37B1-943E-18AF-61610BA40F39}"/>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5769950D-3DFF-9E8D-4330-CFCEB87875E4}"/>
              </a:ext>
            </a:extLst>
          </p:cNvPr>
          <p:cNvSpPr>
            <a:spLocks noGrp="1"/>
          </p:cNvSpPr>
          <p:nvPr>
            <p:ph idx="1"/>
          </p:nvPr>
        </p:nvSpPr>
        <p:spPr/>
        <p:txBody>
          <a:bodyPr/>
          <a:lstStyle/>
          <a:p>
            <a:r>
              <a:rPr lang="en-US" dirty="0">
                <a:solidFill>
                  <a:srgbClr val="222222"/>
                </a:solidFill>
                <a:latin typeface="Harding"/>
              </a:rPr>
              <a:t>F</a:t>
            </a:r>
            <a:r>
              <a:rPr lang="en-US" b="0" i="0" dirty="0">
                <a:solidFill>
                  <a:srgbClr val="222222"/>
                </a:solidFill>
                <a:effectLst/>
                <a:latin typeface="Harding"/>
              </a:rPr>
              <a:t>ast progressors have an invariably poor prognosis.</a:t>
            </a:r>
          </a:p>
          <a:p>
            <a:r>
              <a:rPr lang="en-US" dirty="0">
                <a:solidFill>
                  <a:srgbClr val="222222"/>
                </a:solidFill>
                <a:latin typeface="Harding"/>
              </a:rPr>
              <a:t>Slow </a:t>
            </a:r>
            <a:r>
              <a:rPr lang="en-US" b="0" i="0" dirty="0">
                <a:solidFill>
                  <a:srgbClr val="222222"/>
                </a:solidFill>
                <a:effectLst/>
                <a:latin typeface="Harding"/>
              </a:rPr>
              <a:t>progressors can later show fast progression and a worse prognosis (Amaral D. M. et al. 2024)</a:t>
            </a:r>
          </a:p>
          <a:p>
            <a:r>
              <a:rPr lang="en-US" dirty="0">
                <a:solidFill>
                  <a:srgbClr val="222222"/>
                </a:solidFill>
                <a:latin typeface="Harding"/>
              </a:rPr>
              <a:t>Cognitive impairment associated with frontotemporal dementia (FTD) is observed in up to 50% of the patients with ALS, and up to 30% of the patients with frontotemporal dementia develop motor dysfunction </a:t>
            </a:r>
            <a:r>
              <a:rPr lang="en-US" dirty="0">
                <a:solidFill>
                  <a:srgbClr val="1F1F1F"/>
                </a:solidFill>
                <a:latin typeface="ElsevierGulliver"/>
              </a:rPr>
              <a:t>(</a:t>
            </a:r>
            <a:r>
              <a:rPr lang="en-US" dirty="0" err="1">
                <a:solidFill>
                  <a:srgbClr val="1F1F1F"/>
                </a:solidFill>
                <a:latin typeface="ElsevierGulliver"/>
              </a:rPr>
              <a:t>Tzeplaeff</a:t>
            </a:r>
            <a:r>
              <a:rPr lang="en-US" dirty="0">
                <a:solidFill>
                  <a:srgbClr val="1F1F1F"/>
                </a:solidFill>
                <a:latin typeface="ElsevierGulliver"/>
              </a:rPr>
              <a:t> et al. 2024).</a:t>
            </a:r>
            <a:endParaRPr lang="en-US" dirty="0">
              <a:solidFill>
                <a:srgbClr val="222222"/>
              </a:solidFill>
              <a:latin typeface="Harding"/>
            </a:endParaRPr>
          </a:p>
        </p:txBody>
      </p:sp>
    </p:spTree>
    <p:extLst>
      <p:ext uri="{BB962C8B-B14F-4D97-AF65-F5344CB8AC3E}">
        <p14:creationId xmlns:p14="http://schemas.microsoft.com/office/powerpoint/2010/main" val="3694898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A74-E90D-71A6-AB0C-5F77786DBCAC}"/>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BA62AC0A-FDCC-DDBA-5DD7-202D95A2B877}"/>
              </a:ext>
            </a:extLst>
          </p:cNvPr>
          <p:cNvSpPr>
            <a:spLocks noGrp="1"/>
          </p:cNvSpPr>
          <p:nvPr>
            <p:ph idx="1"/>
          </p:nvPr>
        </p:nvSpPr>
        <p:spPr/>
        <p:txBody>
          <a:bodyPr/>
          <a:lstStyle/>
          <a:p>
            <a:r>
              <a:rPr lang="en-US" b="0" i="0" dirty="0">
                <a:solidFill>
                  <a:srgbClr val="1F1F1F"/>
                </a:solidFill>
                <a:effectLst/>
                <a:latin typeface="ElsevierGulliver"/>
              </a:rPr>
              <a:t>Genetic factors significantly contribute to the pathogenesis of ALS. Pathogenic mutations can be found in 50%–70% of patients with a family history of ALS (familial ALS, </a:t>
            </a:r>
            <a:r>
              <a:rPr lang="en-US" b="0" i="0" dirty="0" err="1">
                <a:solidFill>
                  <a:srgbClr val="1F1F1F"/>
                </a:solidFill>
                <a:effectLst/>
                <a:latin typeface="ElsevierGulliver"/>
              </a:rPr>
              <a:t>fALS</a:t>
            </a:r>
            <a:r>
              <a:rPr lang="en-US" b="0" i="0" dirty="0">
                <a:solidFill>
                  <a:srgbClr val="1F1F1F"/>
                </a:solidFill>
                <a:effectLst/>
                <a:latin typeface="ElsevierGulliver"/>
              </a:rPr>
              <a:t>) and about 10% of non-familial cases (</a:t>
            </a:r>
            <a:r>
              <a:rPr lang="en-US" b="0" i="0" u="none" strike="noStrike" dirty="0">
                <a:effectLst/>
                <a:latin typeface="ElsevierGulliver"/>
              </a:rPr>
              <a:t>Muller et al., 2018</a:t>
            </a:r>
            <a:r>
              <a:rPr lang="en-US" b="0" i="0" dirty="0">
                <a:solidFill>
                  <a:srgbClr val="1F1F1F"/>
                </a:solidFill>
                <a:effectLst/>
                <a:latin typeface="ElsevierGulliver"/>
              </a:rPr>
              <a:t>; </a:t>
            </a:r>
            <a:r>
              <a:rPr lang="en-US" b="0" i="0" u="none" strike="noStrike" dirty="0">
                <a:effectLst/>
                <a:latin typeface="ElsevierGulliver"/>
              </a:rPr>
              <a:t>Renton et al., 2014</a:t>
            </a:r>
            <a:r>
              <a:rPr lang="en-US" b="0" i="0" dirty="0">
                <a:solidFill>
                  <a:srgbClr val="1F1F1F"/>
                </a:solidFill>
                <a:effectLst/>
                <a:latin typeface="ElsevierGulliver"/>
              </a:rPr>
              <a:t>; </a:t>
            </a:r>
            <a:r>
              <a:rPr lang="en-US" b="0" i="0" u="none" strike="noStrike" dirty="0">
                <a:effectLst/>
                <a:latin typeface="ElsevierGulliver"/>
              </a:rPr>
              <a:t>Volk et al., 2018</a:t>
            </a:r>
            <a:r>
              <a:rPr lang="en-US" b="0" i="0" dirty="0">
                <a:solidFill>
                  <a:srgbClr val="1F1F1F"/>
                </a:solidFill>
                <a:effectLst/>
                <a:latin typeface="ElsevierGulliver"/>
              </a:rPr>
              <a:t>). </a:t>
            </a:r>
          </a:p>
          <a:p>
            <a:r>
              <a:rPr lang="en-US" b="0" i="0" dirty="0">
                <a:solidFill>
                  <a:srgbClr val="1F1F1F"/>
                </a:solidFill>
                <a:effectLst/>
                <a:latin typeface="ElsevierGulliver"/>
              </a:rPr>
              <a:t>Fast progressors were diagnosed with ALS early in the disease course with a diagnostic delay of only 6.1 months, compared to late diagnosis in slow progressors with a median diagnostic delay of about seven years. (Witzel S. et al. 2022)</a:t>
            </a:r>
          </a:p>
          <a:p>
            <a:endParaRPr lang="en-US" dirty="0"/>
          </a:p>
        </p:txBody>
      </p:sp>
    </p:spTree>
    <p:extLst>
      <p:ext uri="{BB962C8B-B14F-4D97-AF65-F5344CB8AC3E}">
        <p14:creationId xmlns:p14="http://schemas.microsoft.com/office/powerpoint/2010/main" val="3439778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EC77-D254-61D2-6603-B6C5B033A333}"/>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B921F681-28A5-B246-8C84-82165856D6D5}"/>
              </a:ext>
            </a:extLst>
          </p:cNvPr>
          <p:cNvSpPr>
            <a:spLocks noGrp="1"/>
          </p:cNvSpPr>
          <p:nvPr>
            <p:ph idx="1"/>
          </p:nvPr>
        </p:nvSpPr>
        <p:spPr/>
        <p:txBody>
          <a:bodyPr>
            <a:normAutofit lnSpcReduction="10000"/>
          </a:bodyPr>
          <a:lstStyle/>
          <a:p>
            <a:r>
              <a:rPr lang="en-US" dirty="0">
                <a:solidFill>
                  <a:srgbClr val="1F1F1F"/>
                </a:solidFill>
                <a:latin typeface="ElsevierGulliver"/>
              </a:rPr>
              <a:t>Poor prognosis and fast progression are associated with patients whose ALS diagnosis has been given less than 8 months after symptom onset, or among patients losing more than 1.4 points/month in the ALS-FRS-R </a:t>
            </a:r>
            <a:r>
              <a:rPr lang="en-US" b="0" i="0" dirty="0">
                <a:solidFill>
                  <a:srgbClr val="1F1F1F"/>
                </a:solidFill>
                <a:effectLst/>
                <a:latin typeface="ElsevierGulliver"/>
              </a:rPr>
              <a:t>(Witzel S. et al. 2022, </a:t>
            </a:r>
            <a:r>
              <a:rPr lang="en-US" b="0" i="0" dirty="0" err="1">
                <a:solidFill>
                  <a:srgbClr val="1F1F1F"/>
                </a:solidFill>
                <a:effectLst/>
                <a:latin typeface="ElsevierGulliver"/>
              </a:rPr>
              <a:t>Tzeplaeff</a:t>
            </a:r>
            <a:r>
              <a:rPr lang="en-US" b="0" i="0" dirty="0">
                <a:solidFill>
                  <a:srgbClr val="1F1F1F"/>
                </a:solidFill>
                <a:effectLst/>
                <a:latin typeface="ElsevierGulliver"/>
              </a:rPr>
              <a:t> et al. 2024)</a:t>
            </a:r>
            <a:endParaRPr lang="en-US" dirty="0">
              <a:solidFill>
                <a:srgbClr val="1F1F1F"/>
              </a:solidFill>
              <a:latin typeface="ElsevierGulliver"/>
            </a:endParaRPr>
          </a:p>
          <a:p>
            <a:r>
              <a:rPr lang="en-US" dirty="0">
                <a:solidFill>
                  <a:srgbClr val="1F1F1F"/>
                </a:solidFill>
                <a:latin typeface="ElsevierGulliver"/>
              </a:rPr>
              <a:t>Bulbar site of onset as well as older age at disease onset have also been associated with fast rates in decline in the ALS-FRS-R </a:t>
            </a:r>
            <a:r>
              <a:rPr lang="en-US" b="0" i="0" dirty="0">
                <a:solidFill>
                  <a:srgbClr val="1F1F1F"/>
                </a:solidFill>
                <a:effectLst/>
                <a:latin typeface="ElsevierGulliver"/>
              </a:rPr>
              <a:t>(Witzel S. et al. 2022)</a:t>
            </a:r>
            <a:endParaRPr lang="en-US" dirty="0">
              <a:solidFill>
                <a:srgbClr val="1F1F1F"/>
              </a:solidFill>
              <a:latin typeface="ElsevierGulliver"/>
            </a:endParaRPr>
          </a:p>
          <a:p>
            <a:r>
              <a:rPr lang="en-US" dirty="0">
                <a:solidFill>
                  <a:srgbClr val="1F1F1F"/>
                </a:solidFill>
                <a:latin typeface="ElsevierGulliver"/>
              </a:rPr>
              <a:t>Almost 97% of all </a:t>
            </a:r>
            <a:r>
              <a:rPr lang="en-US" dirty="0" err="1">
                <a:solidFill>
                  <a:srgbClr val="1F1F1F"/>
                </a:solidFill>
                <a:latin typeface="ElsevierGulliver"/>
              </a:rPr>
              <a:t>sALS</a:t>
            </a:r>
            <a:r>
              <a:rPr lang="en-US" dirty="0">
                <a:solidFill>
                  <a:srgbClr val="1F1F1F"/>
                </a:solidFill>
                <a:latin typeface="ElsevierGulliver"/>
              </a:rPr>
              <a:t> and </a:t>
            </a:r>
            <a:r>
              <a:rPr lang="en-US" dirty="0" err="1">
                <a:solidFill>
                  <a:srgbClr val="1F1F1F"/>
                </a:solidFill>
                <a:latin typeface="ElsevierGulliver"/>
              </a:rPr>
              <a:t>fALS</a:t>
            </a:r>
            <a:r>
              <a:rPr lang="en-US" dirty="0">
                <a:solidFill>
                  <a:srgbClr val="1F1F1F"/>
                </a:solidFill>
                <a:latin typeface="ElsevierGulliver"/>
              </a:rPr>
              <a:t> cases display inclusion bodies with cytoplasmic hyperphosphorylated TDP-43, marked for ubiquitination, being the major component of those inclusions (</a:t>
            </a:r>
            <a:r>
              <a:rPr lang="en-US" dirty="0" err="1">
                <a:solidFill>
                  <a:srgbClr val="1F1F1F"/>
                </a:solidFill>
                <a:latin typeface="ElsevierGulliver"/>
              </a:rPr>
              <a:t>Tzeplaeff</a:t>
            </a:r>
            <a:r>
              <a:rPr lang="en-US" dirty="0">
                <a:solidFill>
                  <a:srgbClr val="1F1F1F"/>
                </a:solidFill>
                <a:latin typeface="ElsevierGulliver"/>
              </a:rPr>
              <a:t> et al. 2024)</a:t>
            </a:r>
          </a:p>
          <a:p>
            <a:endParaRPr lang="en-US" dirty="0">
              <a:solidFill>
                <a:srgbClr val="1F1F1F"/>
              </a:solidFill>
              <a:latin typeface="ElsevierGulliver"/>
            </a:endParaRPr>
          </a:p>
          <a:p>
            <a:endParaRPr lang="en-US" dirty="0">
              <a:solidFill>
                <a:srgbClr val="1F1F1F"/>
              </a:solidFill>
              <a:latin typeface="ElsevierGulliver"/>
            </a:endParaRPr>
          </a:p>
        </p:txBody>
      </p:sp>
    </p:spTree>
    <p:extLst>
      <p:ext uri="{BB962C8B-B14F-4D97-AF65-F5344CB8AC3E}">
        <p14:creationId xmlns:p14="http://schemas.microsoft.com/office/powerpoint/2010/main" val="201886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83AA-C002-0CD1-8634-D66D366A622E}"/>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2448BF27-35BC-CA9A-FACC-9EE71C242A64}"/>
              </a:ext>
            </a:extLst>
          </p:cNvPr>
          <p:cNvSpPr>
            <a:spLocks noGrp="1"/>
          </p:cNvSpPr>
          <p:nvPr>
            <p:ph idx="1"/>
          </p:nvPr>
        </p:nvSpPr>
        <p:spPr/>
        <p:txBody>
          <a:bodyPr>
            <a:normAutofit lnSpcReduction="10000"/>
          </a:bodyPr>
          <a:lstStyle/>
          <a:p>
            <a:r>
              <a:rPr lang="en-US" dirty="0">
                <a:solidFill>
                  <a:srgbClr val="1F1F1F"/>
                </a:solidFill>
                <a:latin typeface="ElsevierGulliver"/>
              </a:rPr>
              <a:t>Median survival time </a:t>
            </a:r>
            <a:r>
              <a:rPr lang="en-US" b="0" i="0" dirty="0">
                <a:solidFill>
                  <a:srgbClr val="1F1F1F"/>
                </a:solidFill>
                <a:effectLst/>
                <a:latin typeface="ElsevierGulliver"/>
              </a:rPr>
              <a:t>was 11.3 months in fast progressors versus 147 months in deceased and 165 months in living slow progressors, respectively (Witzel S. et al. 2022).</a:t>
            </a:r>
          </a:p>
          <a:p>
            <a:r>
              <a:rPr lang="en-US" b="0" i="0" dirty="0">
                <a:solidFill>
                  <a:srgbClr val="1F1F1F"/>
                </a:solidFill>
                <a:effectLst/>
                <a:latin typeface="ElsevierGulliver"/>
              </a:rPr>
              <a:t>Fast progressors were diagnosed with ALS early in the disease course with a diagnostic delay of only 6.1 months, compared to late diagnosis in slow progressors with a median diagnostic delay of about seven years (Witzel S. et al. 2022).</a:t>
            </a:r>
          </a:p>
          <a:p>
            <a:r>
              <a:rPr lang="en-US" dirty="0">
                <a:solidFill>
                  <a:srgbClr val="1F1F1F"/>
                </a:solidFill>
                <a:latin typeface="ElsevierGulliver"/>
              </a:rPr>
              <a:t>F</a:t>
            </a:r>
            <a:r>
              <a:rPr lang="en-US" b="0" i="0" dirty="0">
                <a:solidFill>
                  <a:srgbClr val="1F1F1F"/>
                </a:solidFill>
                <a:effectLst/>
                <a:latin typeface="ElsevierGulliver"/>
              </a:rPr>
              <a:t>ast progressors median age at disease onset was about 17 years higher </a:t>
            </a:r>
            <a:r>
              <a:rPr lang="en-US" b="0" i="1" dirty="0">
                <a:solidFill>
                  <a:srgbClr val="1F1F1F"/>
                </a:solidFill>
                <a:effectLst/>
                <a:latin typeface="ElsevierGulliver"/>
              </a:rPr>
              <a:t>p</a:t>
            </a:r>
            <a:r>
              <a:rPr lang="en-US" b="0" i="0" dirty="0">
                <a:solidFill>
                  <a:srgbClr val="1F1F1F"/>
                </a:solidFill>
                <a:effectLst/>
                <a:latin typeface="ElsevierGulliver"/>
              </a:rPr>
              <a:t> &lt; 0.001</a:t>
            </a:r>
          </a:p>
          <a:p>
            <a:pPr lvl="1"/>
            <a:r>
              <a:rPr lang="en-US" b="0" i="0" dirty="0">
                <a:solidFill>
                  <a:srgbClr val="1F1F1F"/>
                </a:solidFill>
                <a:effectLst/>
                <a:latin typeface="ElsevierGulliver"/>
              </a:rPr>
              <a:t>fast: 67.0 years [25, 89]</a:t>
            </a:r>
          </a:p>
          <a:p>
            <a:pPr lvl="1"/>
            <a:r>
              <a:rPr lang="en-US" b="0" i="0" dirty="0">
                <a:solidFill>
                  <a:srgbClr val="1F1F1F"/>
                </a:solidFill>
                <a:effectLst/>
                <a:latin typeface="ElsevierGulliver"/>
              </a:rPr>
              <a:t>slow: 49.5 years [12, 74]</a:t>
            </a:r>
            <a:endParaRPr lang="en-US" dirty="0"/>
          </a:p>
        </p:txBody>
      </p:sp>
    </p:spTree>
    <p:extLst>
      <p:ext uri="{BB962C8B-B14F-4D97-AF65-F5344CB8AC3E}">
        <p14:creationId xmlns:p14="http://schemas.microsoft.com/office/powerpoint/2010/main" val="3634640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C8E12-1129-1361-6D85-77D8E7ECE4A6}"/>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B74848B5-DEE2-82EE-BA66-075C40D0BEC0}"/>
              </a:ext>
            </a:extLst>
          </p:cNvPr>
          <p:cNvSpPr>
            <a:spLocks noGrp="1"/>
          </p:cNvSpPr>
          <p:nvPr>
            <p:ph idx="1"/>
          </p:nvPr>
        </p:nvSpPr>
        <p:spPr/>
        <p:txBody>
          <a:bodyPr/>
          <a:lstStyle/>
          <a:p>
            <a:r>
              <a:rPr lang="en-US" dirty="0">
                <a:solidFill>
                  <a:srgbClr val="1F1F1F"/>
                </a:solidFill>
                <a:latin typeface="ElsevierGulliver"/>
              </a:rPr>
              <a:t>Age at death was not significantly different between slow and fast progressors (slow: 63 years [41, 83]), n = 39; fast: 68 years [25, 89], n = 102; p = 0.601) </a:t>
            </a:r>
            <a:r>
              <a:rPr lang="en-US" b="0" i="0" dirty="0">
                <a:solidFill>
                  <a:srgbClr val="1F1F1F"/>
                </a:solidFill>
                <a:effectLst/>
                <a:latin typeface="ElsevierGulliver"/>
              </a:rPr>
              <a:t>(Witzel S. et al. 2022).</a:t>
            </a:r>
            <a:endParaRPr lang="en-US" dirty="0">
              <a:solidFill>
                <a:srgbClr val="1F1F1F"/>
              </a:solidFill>
              <a:latin typeface="ElsevierGulliver"/>
            </a:endParaRPr>
          </a:p>
          <a:p>
            <a:r>
              <a:rPr lang="en-US" dirty="0">
                <a:solidFill>
                  <a:srgbClr val="1F1F1F"/>
                </a:solidFill>
                <a:latin typeface="ElsevierGulliver"/>
              </a:rPr>
              <a:t>Increase in resting energy expenditure as well as decline in body mass index (BMI) in ALS is associated with a more aggressive disease and a shorter survival (</a:t>
            </a:r>
            <a:r>
              <a:rPr lang="en-US" dirty="0" err="1">
                <a:solidFill>
                  <a:srgbClr val="1F1F1F"/>
                </a:solidFill>
                <a:latin typeface="ElsevierGulliver"/>
              </a:rPr>
              <a:t>Tzeplaeff</a:t>
            </a:r>
            <a:r>
              <a:rPr lang="en-US" dirty="0">
                <a:solidFill>
                  <a:srgbClr val="1F1F1F"/>
                </a:solidFill>
                <a:latin typeface="ElsevierGulliver"/>
              </a:rPr>
              <a:t> et al. 2024).</a:t>
            </a:r>
          </a:p>
          <a:p>
            <a:r>
              <a:rPr lang="en-US" dirty="0">
                <a:solidFill>
                  <a:srgbClr val="1F1F1F"/>
                </a:solidFill>
                <a:latin typeface="ElsevierGulliver"/>
              </a:rPr>
              <a:t>Metabolic perturbations usually occur early during the course of ALS and might be a predictor of disease outcome (</a:t>
            </a:r>
            <a:r>
              <a:rPr lang="en-US" dirty="0" err="1">
                <a:solidFill>
                  <a:srgbClr val="1F1F1F"/>
                </a:solidFill>
                <a:latin typeface="ElsevierGulliver"/>
              </a:rPr>
              <a:t>Tzeplaeff</a:t>
            </a:r>
            <a:r>
              <a:rPr lang="en-US" dirty="0">
                <a:solidFill>
                  <a:srgbClr val="1F1F1F"/>
                </a:solidFill>
                <a:latin typeface="ElsevierGulliver"/>
              </a:rPr>
              <a:t> 2024).</a:t>
            </a:r>
          </a:p>
        </p:txBody>
      </p:sp>
    </p:spTree>
    <p:extLst>
      <p:ext uri="{BB962C8B-B14F-4D97-AF65-F5344CB8AC3E}">
        <p14:creationId xmlns:p14="http://schemas.microsoft.com/office/powerpoint/2010/main" val="2811035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CBF8-6B91-0DD1-B71E-279E6CC8D0E6}"/>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E99E2966-FDC4-C253-2EAC-BCFBADCBC827}"/>
              </a:ext>
            </a:extLst>
          </p:cNvPr>
          <p:cNvSpPr>
            <a:spLocks noGrp="1"/>
          </p:cNvSpPr>
          <p:nvPr>
            <p:ph idx="1"/>
          </p:nvPr>
        </p:nvSpPr>
        <p:spPr/>
        <p:txBody>
          <a:bodyPr/>
          <a:lstStyle/>
          <a:p>
            <a:r>
              <a:rPr lang="en-US" b="0" i="0" dirty="0">
                <a:solidFill>
                  <a:srgbClr val="1F1F1F"/>
                </a:solidFill>
                <a:effectLst/>
                <a:latin typeface="ElsevierGulliver"/>
              </a:rPr>
              <a:t>While there were no significant differences in sex distribution (</a:t>
            </a:r>
            <a:r>
              <a:rPr lang="en-US" b="0" i="1" dirty="0">
                <a:solidFill>
                  <a:srgbClr val="1F1F1F"/>
                </a:solidFill>
                <a:effectLst/>
                <a:latin typeface="ElsevierGulliver"/>
              </a:rPr>
              <a:t>p</a:t>
            </a:r>
            <a:r>
              <a:rPr lang="en-US" b="0" i="0" dirty="0">
                <a:solidFill>
                  <a:srgbClr val="1F1F1F"/>
                </a:solidFill>
                <a:effectLst/>
                <a:latin typeface="ElsevierGulliver"/>
              </a:rPr>
              <a:t> = 0.917) and presence of a family history for ALS (</a:t>
            </a:r>
            <a:r>
              <a:rPr lang="en-US" b="0" i="1" dirty="0">
                <a:solidFill>
                  <a:srgbClr val="1F1F1F"/>
                </a:solidFill>
                <a:effectLst/>
                <a:latin typeface="ElsevierGulliver"/>
              </a:rPr>
              <a:t>p</a:t>
            </a:r>
            <a:r>
              <a:rPr lang="en-US" b="0" i="0" dirty="0">
                <a:solidFill>
                  <a:srgbClr val="1F1F1F"/>
                </a:solidFill>
                <a:effectLst/>
                <a:latin typeface="ElsevierGulliver"/>
              </a:rPr>
              <a:t> = 0.755), fast progressors had twice as often a bulbar onset of disease (30% vs. 14%; </a:t>
            </a:r>
            <a:r>
              <a:rPr lang="en-US" b="0" i="1" dirty="0">
                <a:solidFill>
                  <a:srgbClr val="1F1F1F"/>
                </a:solidFill>
                <a:effectLst/>
                <a:latin typeface="ElsevierGulliver"/>
              </a:rPr>
              <a:t>p</a:t>
            </a:r>
            <a:r>
              <a:rPr lang="en-US" b="0" i="0" dirty="0">
                <a:solidFill>
                  <a:srgbClr val="1F1F1F"/>
                </a:solidFill>
                <a:effectLst/>
                <a:latin typeface="ElsevierGulliver"/>
              </a:rPr>
              <a:t> = 0.010) and less frequently an upper motor neuron predominant phenotype (Witzel S. et al. 2022, </a:t>
            </a:r>
            <a:r>
              <a:rPr lang="en-US" b="0" i="0" dirty="0" err="1">
                <a:solidFill>
                  <a:srgbClr val="1F1F1F"/>
                </a:solidFill>
                <a:effectLst/>
                <a:latin typeface="ElsevierGulliver"/>
              </a:rPr>
              <a:t>Tzeplaeff</a:t>
            </a:r>
            <a:r>
              <a:rPr lang="en-US" b="0" i="0" dirty="0">
                <a:solidFill>
                  <a:srgbClr val="1F1F1F"/>
                </a:solidFill>
                <a:effectLst/>
                <a:latin typeface="ElsevierGulliver"/>
              </a:rPr>
              <a:t> et al 2024)</a:t>
            </a:r>
          </a:p>
          <a:p>
            <a:r>
              <a:rPr lang="en-US" b="0" i="0" dirty="0">
                <a:solidFill>
                  <a:srgbClr val="1F1F1F"/>
                </a:solidFill>
                <a:effectLst/>
                <a:latin typeface="ElsevierGulliver"/>
              </a:rPr>
              <a:t>All patients with </a:t>
            </a:r>
            <a:r>
              <a:rPr lang="en-US" b="0" i="1" dirty="0">
                <a:solidFill>
                  <a:srgbClr val="1F1F1F"/>
                </a:solidFill>
                <a:effectLst/>
                <a:latin typeface="ElsevierGulliver"/>
              </a:rPr>
              <a:t>SOD1</a:t>
            </a:r>
            <a:r>
              <a:rPr lang="en-US" b="0" i="0" dirty="0">
                <a:solidFill>
                  <a:srgbClr val="1F1F1F"/>
                </a:solidFill>
                <a:effectLst/>
                <a:latin typeface="ElsevierGulliver"/>
              </a:rPr>
              <a:t> variants had a spinal onset. </a:t>
            </a:r>
            <a:endParaRPr lang="en-US" dirty="0">
              <a:solidFill>
                <a:srgbClr val="1F1F1F"/>
              </a:solidFill>
              <a:latin typeface="ElsevierGulliver"/>
            </a:endParaRPr>
          </a:p>
          <a:p>
            <a:r>
              <a:rPr lang="en-US" b="0" i="0" dirty="0">
                <a:solidFill>
                  <a:srgbClr val="1F1F1F"/>
                </a:solidFill>
                <a:effectLst/>
                <a:latin typeface="ElsevierGulliver"/>
              </a:rPr>
              <a:t>The prevalence of mutations in known ALS genes did not differ significantly between fast and slow progressors (n = 19 (19%) vs. n = 12 (13%); </a:t>
            </a:r>
            <a:r>
              <a:rPr lang="en-US" b="0" i="1" dirty="0">
                <a:solidFill>
                  <a:srgbClr val="1F1F1F"/>
                </a:solidFill>
                <a:effectLst/>
                <a:latin typeface="ElsevierGulliver"/>
              </a:rPr>
              <a:t>p</a:t>
            </a:r>
            <a:r>
              <a:rPr lang="en-US" b="0" i="0" dirty="0">
                <a:solidFill>
                  <a:srgbClr val="1F1F1F"/>
                </a:solidFill>
                <a:effectLst/>
                <a:latin typeface="ElsevierGulliver"/>
              </a:rPr>
              <a:t> = 0.41) (</a:t>
            </a:r>
            <a:r>
              <a:rPr lang="en-US" b="0" i="0" dirty="0" err="1">
                <a:solidFill>
                  <a:srgbClr val="1F1F1F"/>
                </a:solidFill>
                <a:effectLst/>
                <a:latin typeface="ElsevierGulliver"/>
              </a:rPr>
              <a:t>Tzeplaeff</a:t>
            </a:r>
            <a:r>
              <a:rPr lang="en-US" b="0" i="0" dirty="0">
                <a:solidFill>
                  <a:srgbClr val="1F1F1F"/>
                </a:solidFill>
                <a:effectLst/>
                <a:latin typeface="ElsevierGulliver"/>
              </a:rPr>
              <a:t> et al. 2024)</a:t>
            </a:r>
            <a:endParaRPr lang="en-US" dirty="0"/>
          </a:p>
        </p:txBody>
      </p:sp>
    </p:spTree>
    <p:extLst>
      <p:ext uri="{BB962C8B-B14F-4D97-AF65-F5344CB8AC3E}">
        <p14:creationId xmlns:p14="http://schemas.microsoft.com/office/powerpoint/2010/main" val="1497260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857A-A3FF-1F85-D70B-82569AF1BE63}"/>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06B8F101-7163-4ECD-ECF9-58D8172A1C5C}"/>
              </a:ext>
            </a:extLst>
          </p:cNvPr>
          <p:cNvSpPr>
            <a:spLocks noGrp="1"/>
          </p:cNvSpPr>
          <p:nvPr>
            <p:ph idx="1"/>
          </p:nvPr>
        </p:nvSpPr>
        <p:spPr>
          <a:xfrm>
            <a:off x="838200" y="1825624"/>
            <a:ext cx="10515600" cy="4727575"/>
          </a:xfrm>
        </p:spPr>
        <p:txBody>
          <a:bodyPr>
            <a:normAutofit/>
          </a:bodyPr>
          <a:lstStyle/>
          <a:p>
            <a:r>
              <a:rPr lang="en-US" b="0" i="0" dirty="0">
                <a:solidFill>
                  <a:srgbClr val="1F1F1F"/>
                </a:solidFill>
                <a:effectLst/>
                <a:latin typeface="ElsevierGulliver"/>
              </a:rPr>
              <a:t>Mutations in </a:t>
            </a:r>
            <a:r>
              <a:rPr lang="en-US" b="0" i="1" dirty="0">
                <a:solidFill>
                  <a:srgbClr val="1F1F1F"/>
                </a:solidFill>
                <a:effectLst/>
                <a:latin typeface="ElsevierGulliver"/>
              </a:rPr>
              <a:t>C9orf72</a:t>
            </a:r>
            <a:r>
              <a:rPr lang="en-US" b="0" i="0" dirty="0">
                <a:solidFill>
                  <a:srgbClr val="1F1F1F"/>
                </a:solidFill>
                <a:effectLst/>
                <a:latin typeface="ElsevierGulliver"/>
              </a:rPr>
              <a:t> and </a:t>
            </a:r>
            <a:r>
              <a:rPr lang="en-US" b="0" i="1" dirty="0">
                <a:solidFill>
                  <a:srgbClr val="1F1F1F"/>
                </a:solidFill>
                <a:effectLst/>
                <a:latin typeface="ElsevierGulliver"/>
              </a:rPr>
              <a:t>FUS</a:t>
            </a:r>
            <a:r>
              <a:rPr lang="en-US" b="0" i="0" dirty="0">
                <a:solidFill>
                  <a:srgbClr val="1F1F1F"/>
                </a:solidFill>
                <a:effectLst/>
                <a:latin typeface="ElsevierGulliver"/>
              </a:rPr>
              <a:t> were only found among fast progressors, confirming the poor prognosis of these genetic subtypes </a:t>
            </a:r>
            <a:r>
              <a:rPr lang="en-US" dirty="0">
                <a:solidFill>
                  <a:srgbClr val="1F1F1F"/>
                </a:solidFill>
                <a:latin typeface="ElsevierGulliver"/>
              </a:rPr>
              <a:t>(Cammack et al., 2019; Naumann et al., 2019).</a:t>
            </a:r>
          </a:p>
          <a:p>
            <a:r>
              <a:rPr lang="en-US" dirty="0">
                <a:solidFill>
                  <a:srgbClr val="1F1F1F"/>
                </a:solidFill>
                <a:latin typeface="ElsevierGulliver"/>
              </a:rPr>
              <a:t>C</a:t>
            </a:r>
            <a:r>
              <a:rPr lang="en-US" b="0" i="0" dirty="0">
                <a:solidFill>
                  <a:srgbClr val="1F1F1F"/>
                </a:solidFill>
                <a:effectLst/>
                <a:latin typeface="ElsevierGulliver"/>
              </a:rPr>
              <a:t>arrying a pathogenic variant with slow disease progression may be a prognostically favorable circumstance associated with considerably longer survival when compared to slow progressors without a pathogenic variant (</a:t>
            </a:r>
            <a:r>
              <a:rPr lang="en-US" b="0" i="0" dirty="0" err="1">
                <a:solidFill>
                  <a:srgbClr val="1F1F1F"/>
                </a:solidFill>
                <a:effectLst/>
                <a:latin typeface="ElsevierGulliver"/>
              </a:rPr>
              <a:t>Tzeplaeff</a:t>
            </a:r>
            <a:r>
              <a:rPr lang="en-US" b="0" i="0" dirty="0">
                <a:solidFill>
                  <a:srgbClr val="1F1F1F"/>
                </a:solidFill>
                <a:effectLst/>
                <a:latin typeface="ElsevierGulliver"/>
              </a:rPr>
              <a:t> et al. 2024)</a:t>
            </a:r>
          </a:p>
          <a:p>
            <a:r>
              <a:rPr lang="en-US" dirty="0">
                <a:solidFill>
                  <a:srgbClr val="1F1F1F"/>
                </a:solidFill>
                <a:latin typeface="ElsevierGulliver"/>
              </a:rPr>
              <a:t>P</a:t>
            </a:r>
            <a:r>
              <a:rPr lang="en-US" b="0" i="0" dirty="0">
                <a:solidFill>
                  <a:srgbClr val="1F1F1F"/>
                </a:solidFill>
                <a:effectLst/>
                <a:latin typeface="ElsevierGulliver"/>
              </a:rPr>
              <a:t>atients with fast disease progression who carry a pathogenic variant tend to show an unfavorable phenotype with earlier disease onset compared to fast progressors without a pathogenic variant (</a:t>
            </a:r>
            <a:r>
              <a:rPr lang="en-US" b="0" i="0" dirty="0" err="1">
                <a:solidFill>
                  <a:srgbClr val="1F1F1F"/>
                </a:solidFill>
                <a:effectLst/>
                <a:latin typeface="ElsevierGulliver"/>
              </a:rPr>
              <a:t>Tzeplaeff</a:t>
            </a:r>
            <a:r>
              <a:rPr lang="en-US" b="0" i="0" dirty="0">
                <a:solidFill>
                  <a:srgbClr val="1F1F1F"/>
                </a:solidFill>
                <a:effectLst/>
                <a:latin typeface="ElsevierGulliver"/>
              </a:rPr>
              <a:t> et al. 2024)</a:t>
            </a:r>
          </a:p>
        </p:txBody>
      </p:sp>
    </p:spTree>
    <p:extLst>
      <p:ext uri="{BB962C8B-B14F-4D97-AF65-F5344CB8AC3E}">
        <p14:creationId xmlns:p14="http://schemas.microsoft.com/office/powerpoint/2010/main" val="414033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BA21-5830-7DD7-0D2D-CF812CCFA484}"/>
              </a:ext>
            </a:extLst>
          </p:cNvPr>
          <p:cNvSpPr>
            <a:spLocks noGrp="1"/>
          </p:cNvSpPr>
          <p:nvPr>
            <p:ph type="title"/>
          </p:nvPr>
        </p:nvSpPr>
        <p:spPr/>
        <p:txBody>
          <a:bodyPr/>
          <a:lstStyle/>
          <a:p>
            <a:r>
              <a:rPr lang="en-US" dirty="0"/>
              <a:t>Fast and slow progressors</a:t>
            </a:r>
          </a:p>
        </p:txBody>
      </p:sp>
      <p:sp>
        <p:nvSpPr>
          <p:cNvPr id="3" name="Content Placeholder 2">
            <a:extLst>
              <a:ext uri="{FF2B5EF4-FFF2-40B4-BE49-F238E27FC236}">
                <a16:creationId xmlns:a16="http://schemas.microsoft.com/office/drawing/2014/main" id="{90892CF9-6698-8DC2-5BBD-A97D08939064}"/>
              </a:ext>
            </a:extLst>
          </p:cNvPr>
          <p:cNvSpPr>
            <a:spLocks noGrp="1"/>
          </p:cNvSpPr>
          <p:nvPr>
            <p:ph idx="1"/>
          </p:nvPr>
        </p:nvSpPr>
        <p:spPr/>
        <p:txBody>
          <a:bodyPr>
            <a:normAutofit lnSpcReduction="10000"/>
          </a:bodyPr>
          <a:lstStyle/>
          <a:p>
            <a:r>
              <a:rPr lang="en-US" b="0" i="0" dirty="0">
                <a:solidFill>
                  <a:srgbClr val="1F1F1F"/>
                </a:solidFill>
                <a:effectLst/>
                <a:latin typeface="ElsevierGulliver"/>
              </a:rPr>
              <a:t>Targeting metabolism with a high caloric fatty diet might prolong survival in patients with fast disease progression (</a:t>
            </a:r>
            <a:r>
              <a:rPr lang="en-US" b="0" i="0" u="none" strike="noStrike" dirty="0">
                <a:effectLst/>
                <a:latin typeface="ElsevierGulliver"/>
              </a:rPr>
              <a:t>Ludolph et al., 2020</a:t>
            </a:r>
            <a:r>
              <a:rPr lang="en-US" b="0" i="0" dirty="0">
                <a:solidFill>
                  <a:srgbClr val="1F1F1F"/>
                </a:solidFill>
                <a:effectLst/>
                <a:latin typeface="ElsevierGulliver"/>
              </a:rPr>
              <a:t>). </a:t>
            </a:r>
          </a:p>
          <a:p>
            <a:r>
              <a:rPr lang="en-US" b="0" i="0" dirty="0">
                <a:solidFill>
                  <a:srgbClr val="1F1F1F"/>
                </a:solidFill>
                <a:effectLst/>
                <a:latin typeface="ElsevierGulliver"/>
              </a:rPr>
              <a:t>Supporting the effects of a high caloric fatty diet, the positive evolution of prognostic biomarkers during this intervention hints towards beneficial effects also beyond fast progressors (</a:t>
            </a:r>
            <a:r>
              <a:rPr lang="en-US" b="0" i="0" u="none" strike="noStrike" dirty="0">
                <a:effectLst/>
                <a:latin typeface="ElsevierGulliver"/>
              </a:rPr>
              <a:t>Dorst et al., 2020</a:t>
            </a:r>
            <a:r>
              <a:rPr lang="en-US" b="0" i="0" dirty="0">
                <a:solidFill>
                  <a:srgbClr val="1F1F1F"/>
                </a:solidFill>
                <a:effectLst/>
                <a:latin typeface="ElsevierGulliver"/>
              </a:rPr>
              <a:t>). </a:t>
            </a:r>
          </a:p>
          <a:p>
            <a:r>
              <a:rPr lang="en-US" b="0" i="0" dirty="0">
                <a:solidFill>
                  <a:srgbClr val="1F1F1F"/>
                </a:solidFill>
                <a:effectLst/>
                <a:latin typeface="ElsevierGulliver"/>
              </a:rPr>
              <a:t>Witzel S et al. 2022 confirm the prognostic value of metabolic factors and emphasize metabolism as an important therapeutic target independent of whether a patient carries a pathogenic mutation or not.</a:t>
            </a:r>
            <a:endParaRPr lang="en-US" dirty="0"/>
          </a:p>
        </p:txBody>
      </p:sp>
    </p:spTree>
    <p:extLst>
      <p:ext uri="{BB962C8B-B14F-4D97-AF65-F5344CB8AC3E}">
        <p14:creationId xmlns:p14="http://schemas.microsoft.com/office/powerpoint/2010/main" val="4145606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46E4-C03B-394D-FE76-71E989B907FA}"/>
              </a:ext>
            </a:extLst>
          </p:cNvPr>
          <p:cNvSpPr>
            <a:spLocks noGrp="1"/>
          </p:cNvSpPr>
          <p:nvPr>
            <p:ph type="title"/>
          </p:nvPr>
        </p:nvSpPr>
        <p:spPr/>
        <p:txBody>
          <a:bodyPr>
            <a:normAutofit/>
          </a:bodyPr>
          <a:lstStyle/>
          <a:p>
            <a:r>
              <a:rPr lang="en-US" dirty="0"/>
              <a:t>Fast and slow progressors (Proteomic data - </a:t>
            </a:r>
            <a:r>
              <a:rPr lang="en-US" b="0" i="0" dirty="0">
                <a:solidFill>
                  <a:srgbClr val="222222"/>
                </a:solidFill>
                <a:effectLst/>
                <a:latin typeface="Harding"/>
              </a:rPr>
              <a:t>(Amaral D. M. et al. 2024)</a:t>
            </a:r>
            <a:r>
              <a:rPr lang="en-US" dirty="0"/>
              <a:t>)</a:t>
            </a:r>
          </a:p>
        </p:txBody>
      </p:sp>
      <p:sp>
        <p:nvSpPr>
          <p:cNvPr id="3" name="Content Placeholder 2">
            <a:extLst>
              <a:ext uri="{FF2B5EF4-FFF2-40B4-BE49-F238E27FC236}">
                <a16:creationId xmlns:a16="http://schemas.microsoft.com/office/drawing/2014/main" id="{96A5EEFF-5F4C-4CCC-D445-408874D1D4AC}"/>
              </a:ext>
            </a:extLst>
          </p:cNvPr>
          <p:cNvSpPr>
            <a:spLocks noGrp="1"/>
          </p:cNvSpPr>
          <p:nvPr>
            <p:ph idx="1"/>
          </p:nvPr>
        </p:nvSpPr>
        <p:spPr/>
        <p:txBody>
          <a:bodyPr/>
          <a:lstStyle/>
          <a:p>
            <a:r>
              <a:rPr lang="en-US" dirty="0">
                <a:solidFill>
                  <a:srgbClr val="1F1F1F"/>
                </a:solidFill>
                <a:latin typeface="ElsevierGulliver"/>
              </a:rPr>
              <a:t>Pathway analysis determined that proteins related to inflammatory processes such as acute phase response signaling, coagulation systems, and complement systems were upregulated in FPs while pathways related to synaptogenesis signaling and glucose metabolism were upregulated in SPs.</a:t>
            </a:r>
          </a:p>
          <a:p>
            <a:r>
              <a:rPr lang="en-US" dirty="0">
                <a:solidFill>
                  <a:srgbClr val="1F1F1F"/>
                </a:solidFill>
                <a:latin typeface="ElsevierGulliver"/>
              </a:rPr>
              <a:t>There was an overlap of specific proteins (APOD, ITIH3, TGFB1, BASP1, CPN1, HBA1, CF1, FCN3, and CPB2) that were significantly altered in FPs versus SPs in both the CSF and plasma proteome. </a:t>
            </a:r>
          </a:p>
        </p:txBody>
      </p:sp>
    </p:spTree>
    <p:extLst>
      <p:ext uri="{BB962C8B-B14F-4D97-AF65-F5344CB8AC3E}">
        <p14:creationId xmlns:p14="http://schemas.microsoft.com/office/powerpoint/2010/main" val="224472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3CB2-5DBF-3BDF-24C2-E7A1E572E96B}"/>
              </a:ext>
            </a:extLst>
          </p:cNvPr>
          <p:cNvSpPr>
            <a:spLocks noGrp="1"/>
          </p:cNvSpPr>
          <p:nvPr>
            <p:ph type="title"/>
          </p:nvPr>
        </p:nvSpPr>
        <p:spPr/>
        <p:txBody>
          <a:bodyPr/>
          <a:lstStyle/>
          <a:p>
            <a:r>
              <a:rPr lang="en-US" dirty="0"/>
              <a:t>Fast and slow progressors (Proteomic data - </a:t>
            </a:r>
            <a:r>
              <a:rPr lang="en-US" b="0" i="0" dirty="0">
                <a:solidFill>
                  <a:srgbClr val="222222"/>
                </a:solidFill>
                <a:effectLst/>
                <a:latin typeface="Harding"/>
              </a:rPr>
              <a:t>(Amaral D. M. et al. 2024)</a:t>
            </a:r>
            <a:r>
              <a:rPr lang="en-US" dirty="0"/>
              <a:t>)</a:t>
            </a:r>
          </a:p>
        </p:txBody>
      </p:sp>
      <p:sp>
        <p:nvSpPr>
          <p:cNvPr id="3" name="Content Placeholder 2">
            <a:extLst>
              <a:ext uri="{FF2B5EF4-FFF2-40B4-BE49-F238E27FC236}">
                <a16:creationId xmlns:a16="http://schemas.microsoft.com/office/drawing/2014/main" id="{A57E85AC-9B31-DC0F-7E78-409A462A9929}"/>
              </a:ext>
            </a:extLst>
          </p:cNvPr>
          <p:cNvSpPr>
            <a:spLocks noGrp="1"/>
          </p:cNvSpPr>
          <p:nvPr>
            <p:ph idx="1"/>
          </p:nvPr>
        </p:nvSpPr>
        <p:spPr>
          <a:xfrm>
            <a:off x="838200" y="1825625"/>
            <a:ext cx="10515600" cy="4667250"/>
          </a:xfrm>
        </p:spPr>
        <p:txBody>
          <a:bodyPr>
            <a:normAutofit lnSpcReduction="10000"/>
          </a:bodyPr>
          <a:lstStyle/>
          <a:p>
            <a:r>
              <a:rPr lang="en-US" dirty="0">
                <a:solidFill>
                  <a:srgbClr val="1F1F1F"/>
                </a:solidFill>
                <a:latin typeface="ElsevierGulliver"/>
              </a:rPr>
              <a:t>Complement proteins, immunoglobulins, and extracellular matrix proteins exhibited increased abundance over time in ALS CSF whereas proteins related to axonal guidance, synapse assembly, neuropeptide signaling, and RNA processing were reduced over time.</a:t>
            </a:r>
          </a:p>
          <a:p>
            <a:r>
              <a:rPr lang="en-US" dirty="0">
                <a:solidFill>
                  <a:srgbClr val="1F1F1F"/>
                </a:solidFill>
                <a:latin typeface="ElsevierGulliver"/>
              </a:rPr>
              <a:t>An enrichment in pathways associated with synaptogenesis and glucose metabolism in SPs</a:t>
            </a:r>
          </a:p>
          <a:p>
            <a:r>
              <a:rPr lang="en-US" dirty="0">
                <a:solidFill>
                  <a:srgbClr val="1F1F1F"/>
                </a:solidFill>
                <a:latin typeface="ElsevierGulliver"/>
              </a:rPr>
              <a:t>Dysregulation in metabolic pathways have been widely implicated in ALS pathogenesis. Increased activity of proteins involved in glycolysis (i.e., hexokinase and phosphofructokinase) and the Krebs cycle (i.e., citrate synthase and malate dehydrogenase) has been observed in synaptosomes isolated from the spinal cord and motor cortex of SOD1G93A mice relative to wild type.</a:t>
            </a:r>
          </a:p>
        </p:txBody>
      </p:sp>
    </p:spTree>
    <p:extLst>
      <p:ext uri="{BB962C8B-B14F-4D97-AF65-F5344CB8AC3E}">
        <p14:creationId xmlns:p14="http://schemas.microsoft.com/office/powerpoint/2010/main" val="424249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F8CDF-F06E-18FA-CBA4-B0FD6F790CF8}"/>
              </a:ext>
            </a:extLst>
          </p:cNvPr>
          <p:cNvSpPr>
            <a:spLocks noGrp="1"/>
          </p:cNvSpPr>
          <p:nvPr>
            <p:ph type="title"/>
          </p:nvPr>
        </p:nvSpPr>
        <p:spPr/>
        <p:txBody>
          <a:bodyPr/>
          <a:lstStyle/>
          <a:p>
            <a:r>
              <a:rPr lang="en-US" dirty="0"/>
              <a:t>Fast and slow progressors (Proteomic data - </a:t>
            </a:r>
            <a:r>
              <a:rPr lang="en-US" b="0" i="0" dirty="0">
                <a:solidFill>
                  <a:srgbClr val="222222"/>
                </a:solidFill>
                <a:effectLst/>
                <a:latin typeface="Harding"/>
              </a:rPr>
              <a:t>(Amaral D. M. et al. 2024)</a:t>
            </a:r>
            <a:r>
              <a:rPr lang="en-US" dirty="0"/>
              <a:t>)</a:t>
            </a:r>
          </a:p>
        </p:txBody>
      </p:sp>
      <p:sp>
        <p:nvSpPr>
          <p:cNvPr id="3" name="Content Placeholder 2">
            <a:extLst>
              <a:ext uri="{FF2B5EF4-FFF2-40B4-BE49-F238E27FC236}">
                <a16:creationId xmlns:a16="http://schemas.microsoft.com/office/drawing/2014/main" id="{2314F767-5E83-BF5F-DDF7-15AE7C439971}"/>
              </a:ext>
            </a:extLst>
          </p:cNvPr>
          <p:cNvSpPr>
            <a:spLocks noGrp="1"/>
          </p:cNvSpPr>
          <p:nvPr>
            <p:ph idx="1"/>
          </p:nvPr>
        </p:nvSpPr>
        <p:spPr/>
        <p:txBody>
          <a:bodyPr/>
          <a:lstStyle/>
          <a:p>
            <a:r>
              <a:rPr lang="en-US" dirty="0">
                <a:solidFill>
                  <a:srgbClr val="1F1F1F"/>
                </a:solidFill>
                <a:latin typeface="ElsevierGulliver"/>
              </a:rPr>
              <a:t>A high glucose diet elicited a neuroprotective effect by improving motor deficits and survival in Drosophila models that over-expressed TDP-43</a:t>
            </a:r>
          </a:p>
          <a:p>
            <a:r>
              <a:rPr lang="en-US" dirty="0">
                <a:solidFill>
                  <a:srgbClr val="1F1F1F"/>
                </a:solidFill>
                <a:latin typeface="ElsevierGulliver"/>
              </a:rPr>
              <a:t>Multivariate analysis and Random Forest modeling using the top 59 candidates predicted the combination of three biomarkers (SERPINA4, RBP4, and F12) best distinguish FP and SP ALS across time.</a:t>
            </a:r>
          </a:p>
          <a:p>
            <a:r>
              <a:rPr lang="en-US" dirty="0">
                <a:solidFill>
                  <a:srgbClr val="1F1F1F"/>
                </a:solidFill>
                <a:latin typeface="ElsevierGulliver"/>
              </a:rPr>
              <a:t>SERPINA4 (</a:t>
            </a:r>
            <a:r>
              <a:rPr lang="en-US" dirty="0" err="1">
                <a:solidFill>
                  <a:srgbClr val="1F1F1F"/>
                </a:solidFill>
                <a:latin typeface="ElsevierGulliver"/>
              </a:rPr>
              <a:t>Kallistatin</a:t>
            </a:r>
            <a:r>
              <a:rPr lang="en-US" dirty="0">
                <a:solidFill>
                  <a:srgbClr val="1F1F1F"/>
                </a:solidFill>
                <a:latin typeface="ElsevierGulliver"/>
              </a:rPr>
              <a:t>) has been identified in a prior proteomic screen of ALS CSF where reduced abundance was observed compared to controls.</a:t>
            </a:r>
          </a:p>
        </p:txBody>
      </p:sp>
    </p:spTree>
    <p:extLst>
      <p:ext uri="{BB962C8B-B14F-4D97-AF65-F5344CB8AC3E}">
        <p14:creationId xmlns:p14="http://schemas.microsoft.com/office/powerpoint/2010/main" val="2309388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72C31-ED80-ECAB-02B4-F34C6E67BE1A}"/>
              </a:ext>
            </a:extLst>
          </p:cNvPr>
          <p:cNvSpPr>
            <a:spLocks noGrp="1"/>
          </p:cNvSpPr>
          <p:nvPr>
            <p:ph type="title"/>
          </p:nvPr>
        </p:nvSpPr>
        <p:spPr/>
        <p:txBody>
          <a:bodyPr/>
          <a:lstStyle/>
          <a:p>
            <a:r>
              <a:rPr lang="en-US" dirty="0"/>
              <a:t>ALS pathways </a:t>
            </a:r>
          </a:p>
        </p:txBody>
      </p:sp>
      <p:sp>
        <p:nvSpPr>
          <p:cNvPr id="3" name="Content Placeholder 2">
            <a:extLst>
              <a:ext uri="{FF2B5EF4-FFF2-40B4-BE49-F238E27FC236}">
                <a16:creationId xmlns:a16="http://schemas.microsoft.com/office/drawing/2014/main" id="{90855E99-2E84-02C9-A648-EFD41A7DBCF0}"/>
              </a:ext>
            </a:extLst>
          </p:cNvPr>
          <p:cNvSpPr>
            <a:spLocks noGrp="1"/>
          </p:cNvSpPr>
          <p:nvPr>
            <p:ph idx="1"/>
          </p:nvPr>
        </p:nvSpPr>
        <p:spPr>
          <a:xfrm>
            <a:off x="838200" y="1825624"/>
            <a:ext cx="10515600" cy="4752975"/>
          </a:xfrm>
        </p:spPr>
        <p:txBody>
          <a:bodyPr>
            <a:normAutofit lnSpcReduction="10000"/>
          </a:bodyPr>
          <a:lstStyle/>
          <a:p>
            <a:r>
              <a:rPr lang="en-US" dirty="0">
                <a:solidFill>
                  <a:srgbClr val="1F1F1F"/>
                </a:solidFill>
                <a:latin typeface="ElsevierGulliver"/>
              </a:rPr>
              <a:t>ALS is associated with a complex array of dysregulated interconnected processes, including glutamate excitotoxicity, immune system dysfunction, axonal transport defects, mitochondrial dysfunction, aberrant RNA processing, and many other pathways (</a:t>
            </a:r>
            <a:r>
              <a:rPr lang="en-US" dirty="0" err="1">
                <a:solidFill>
                  <a:srgbClr val="1F1F1F"/>
                </a:solidFill>
                <a:latin typeface="ElsevierGulliver"/>
              </a:rPr>
              <a:t>Tzeplaeff</a:t>
            </a:r>
            <a:r>
              <a:rPr lang="en-US" dirty="0">
                <a:solidFill>
                  <a:srgbClr val="1F1F1F"/>
                </a:solidFill>
                <a:latin typeface="ElsevierGulliver"/>
              </a:rPr>
              <a:t> et al. 2024, Witzel S. et al 2022)</a:t>
            </a:r>
          </a:p>
          <a:p>
            <a:r>
              <a:rPr lang="en-US" dirty="0">
                <a:solidFill>
                  <a:srgbClr val="1F1F1F"/>
                </a:solidFill>
                <a:latin typeface="ElsevierGulliver"/>
              </a:rPr>
              <a:t>Most of the FUS mutations are in the nuclear localization sequence and therefore typically involved in dysfunctional nucleocytoplasmic shuttling (</a:t>
            </a:r>
            <a:r>
              <a:rPr lang="en-US" dirty="0" err="1">
                <a:solidFill>
                  <a:srgbClr val="1F1F1F"/>
                </a:solidFill>
                <a:latin typeface="ElsevierGulliver"/>
              </a:rPr>
              <a:t>Tzeplaeff</a:t>
            </a:r>
            <a:r>
              <a:rPr lang="en-US" dirty="0">
                <a:solidFill>
                  <a:srgbClr val="1F1F1F"/>
                </a:solidFill>
                <a:latin typeface="ElsevierGulliver"/>
              </a:rPr>
              <a:t> et al. 2024)</a:t>
            </a:r>
          </a:p>
          <a:p>
            <a:r>
              <a:rPr lang="en-US" dirty="0">
                <a:solidFill>
                  <a:srgbClr val="1F1F1F"/>
                </a:solidFill>
                <a:latin typeface="ElsevierGulliver"/>
              </a:rPr>
              <a:t>While </a:t>
            </a:r>
            <a:r>
              <a:rPr lang="en-US" dirty="0" err="1">
                <a:solidFill>
                  <a:srgbClr val="1F1F1F"/>
                </a:solidFill>
                <a:latin typeface="ElsevierGulliver"/>
              </a:rPr>
              <a:t>fALS</a:t>
            </a:r>
            <a:r>
              <a:rPr lang="en-US" dirty="0">
                <a:solidFill>
                  <a:srgbClr val="1F1F1F"/>
                </a:solidFill>
                <a:latin typeface="ElsevierGulliver"/>
              </a:rPr>
              <a:t> cases with a FUS mutation represent an aggressive disease with early onset, the nuclear import dysfunction in vitro is evident in early disease stages and correlates inversely with the age of onset  (</a:t>
            </a:r>
            <a:r>
              <a:rPr lang="en-US" dirty="0" err="1">
                <a:solidFill>
                  <a:srgbClr val="1F1F1F"/>
                </a:solidFill>
                <a:latin typeface="ElsevierGulliver"/>
              </a:rPr>
              <a:t>Tzeplaeff</a:t>
            </a:r>
            <a:r>
              <a:rPr lang="en-US" dirty="0">
                <a:solidFill>
                  <a:srgbClr val="1F1F1F"/>
                </a:solidFill>
                <a:latin typeface="ElsevierGulliver"/>
              </a:rPr>
              <a:t> et al. 2024)</a:t>
            </a:r>
          </a:p>
          <a:p>
            <a:endParaRPr lang="en-US" dirty="0"/>
          </a:p>
        </p:txBody>
      </p:sp>
    </p:spTree>
    <p:extLst>
      <p:ext uri="{BB962C8B-B14F-4D97-AF65-F5344CB8AC3E}">
        <p14:creationId xmlns:p14="http://schemas.microsoft.com/office/powerpoint/2010/main" val="2977993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D696-541F-66D8-3003-A94DE332133E}"/>
              </a:ext>
            </a:extLst>
          </p:cNvPr>
          <p:cNvSpPr>
            <a:spLocks noGrp="1"/>
          </p:cNvSpPr>
          <p:nvPr>
            <p:ph type="title"/>
          </p:nvPr>
        </p:nvSpPr>
        <p:spPr/>
        <p:txBody>
          <a:bodyPr/>
          <a:lstStyle/>
          <a:p>
            <a:r>
              <a:rPr lang="en-US" dirty="0"/>
              <a:t>ALS pathways</a:t>
            </a:r>
          </a:p>
        </p:txBody>
      </p:sp>
      <p:sp>
        <p:nvSpPr>
          <p:cNvPr id="3" name="Content Placeholder 2">
            <a:extLst>
              <a:ext uri="{FF2B5EF4-FFF2-40B4-BE49-F238E27FC236}">
                <a16:creationId xmlns:a16="http://schemas.microsoft.com/office/drawing/2014/main" id="{075DBEAC-615B-1DBF-825F-45017CA16911}"/>
              </a:ext>
            </a:extLst>
          </p:cNvPr>
          <p:cNvSpPr>
            <a:spLocks noGrp="1"/>
          </p:cNvSpPr>
          <p:nvPr>
            <p:ph idx="1"/>
          </p:nvPr>
        </p:nvSpPr>
        <p:spPr/>
        <p:txBody>
          <a:bodyPr/>
          <a:lstStyle/>
          <a:p>
            <a:r>
              <a:rPr lang="en-US" dirty="0">
                <a:solidFill>
                  <a:srgbClr val="1F1F1F"/>
                </a:solidFill>
                <a:latin typeface="ElsevierGulliver"/>
              </a:rPr>
              <a:t>In patients with a C9orf72 mutation, disease onset is typically later than in FUS ALS, and C9orf72-mutated iPSCs accordingly present the dysregulated proteins needed for the nucleocytoplasmic transport, particularly in later stages (</a:t>
            </a:r>
            <a:r>
              <a:rPr lang="en-US" dirty="0" err="1">
                <a:solidFill>
                  <a:srgbClr val="1F1F1F"/>
                </a:solidFill>
                <a:latin typeface="ElsevierGulliver"/>
              </a:rPr>
              <a:t>Tzeplaeff</a:t>
            </a:r>
            <a:r>
              <a:rPr lang="en-US" dirty="0">
                <a:solidFill>
                  <a:srgbClr val="1F1F1F"/>
                </a:solidFill>
                <a:latin typeface="ElsevierGulliver"/>
              </a:rPr>
              <a:t> et al. 2024)</a:t>
            </a:r>
          </a:p>
          <a:p>
            <a:r>
              <a:rPr lang="en-US" dirty="0">
                <a:solidFill>
                  <a:srgbClr val="1F1F1F"/>
                </a:solidFill>
                <a:latin typeface="ElsevierGulliver"/>
              </a:rPr>
              <a:t>C9orf72 and SOD1 variants both feature high levels of oxidative stress, and as a result, </a:t>
            </a:r>
            <a:r>
              <a:rPr lang="en-US" dirty="0" err="1">
                <a:solidFill>
                  <a:srgbClr val="1F1F1F"/>
                </a:solidFill>
                <a:latin typeface="ElsevierGulliver"/>
              </a:rPr>
              <a:t>CarboxyEthylPyrole</a:t>
            </a:r>
            <a:r>
              <a:rPr lang="en-US" dirty="0">
                <a:solidFill>
                  <a:srgbClr val="1F1F1F"/>
                </a:solidFill>
                <a:latin typeface="ElsevierGulliver"/>
              </a:rPr>
              <a:t> (CEP) accumulates in the brain (Witzel S et al. 2022)</a:t>
            </a:r>
          </a:p>
          <a:p>
            <a:r>
              <a:rPr lang="en-US" dirty="0">
                <a:solidFill>
                  <a:srgbClr val="1F1F1F"/>
                </a:solidFill>
                <a:latin typeface="ElsevierGulliver"/>
              </a:rPr>
              <a:t>Oxidative stress level is increased in brain tissue of SOD1 ALS patients, but this could also be attributable to other factors than SOD1 activity itself (Witzel S et al. 2022)</a:t>
            </a:r>
          </a:p>
          <a:p>
            <a:endParaRPr lang="en-US" dirty="0">
              <a:solidFill>
                <a:srgbClr val="1F1F1F"/>
              </a:solidFill>
              <a:latin typeface="ElsevierGulliver"/>
            </a:endParaRPr>
          </a:p>
        </p:txBody>
      </p:sp>
    </p:spTree>
    <p:extLst>
      <p:ext uri="{BB962C8B-B14F-4D97-AF65-F5344CB8AC3E}">
        <p14:creationId xmlns:p14="http://schemas.microsoft.com/office/powerpoint/2010/main" val="2629791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0CABC-16EB-CCAE-7FCB-03479A671847}"/>
              </a:ext>
            </a:extLst>
          </p:cNvPr>
          <p:cNvSpPr>
            <a:spLocks noGrp="1"/>
          </p:cNvSpPr>
          <p:nvPr>
            <p:ph type="title"/>
          </p:nvPr>
        </p:nvSpPr>
        <p:spPr/>
        <p:txBody>
          <a:bodyPr/>
          <a:lstStyle/>
          <a:p>
            <a:r>
              <a:rPr lang="en-US" dirty="0"/>
              <a:t>ALS pathways</a:t>
            </a:r>
          </a:p>
        </p:txBody>
      </p:sp>
      <p:sp>
        <p:nvSpPr>
          <p:cNvPr id="3" name="Content Placeholder 2">
            <a:extLst>
              <a:ext uri="{FF2B5EF4-FFF2-40B4-BE49-F238E27FC236}">
                <a16:creationId xmlns:a16="http://schemas.microsoft.com/office/drawing/2014/main" id="{4D9EFCFB-E5BA-4017-FC48-2AC71A5B151F}"/>
              </a:ext>
            </a:extLst>
          </p:cNvPr>
          <p:cNvSpPr>
            <a:spLocks noGrp="1"/>
          </p:cNvSpPr>
          <p:nvPr>
            <p:ph idx="1"/>
          </p:nvPr>
        </p:nvSpPr>
        <p:spPr/>
        <p:txBody>
          <a:bodyPr>
            <a:normAutofit fontScale="92500"/>
          </a:bodyPr>
          <a:lstStyle/>
          <a:p>
            <a:r>
              <a:rPr lang="en-US" dirty="0">
                <a:solidFill>
                  <a:srgbClr val="1F1F1F"/>
                </a:solidFill>
                <a:latin typeface="ElsevierGulliver"/>
              </a:rPr>
              <a:t>In addition to the aggregated protein, the distribution of protein inclusions across the cortex–spinal-cord axis differs between genetic forms (Witzel S et al. 2022)</a:t>
            </a:r>
          </a:p>
          <a:p>
            <a:r>
              <a:rPr lang="en-US" dirty="0">
                <a:solidFill>
                  <a:srgbClr val="1F1F1F"/>
                </a:solidFill>
                <a:latin typeface="ElsevierGulliver"/>
              </a:rPr>
              <a:t>While in FUS and SOD1 ALS, less cortical protein aggregation occurs, ALS with TDP-43 </a:t>
            </a:r>
            <a:r>
              <a:rPr lang="en-US" dirty="0" err="1">
                <a:solidFill>
                  <a:srgbClr val="1F1F1F"/>
                </a:solidFill>
                <a:latin typeface="ElsevierGulliver"/>
              </a:rPr>
              <a:t>proteinopathy</a:t>
            </a:r>
            <a:r>
              <a:rPr lang="en-US" dirty="0">
                <a:solidFill>
                  <a:srgbClr val="1F1F1F"/>
                </a:solidFill>
                <a:latin typeface="ElsevierGulliver"/>
              </a:rPr>
              <a:t> rather presents a widespread inclusion pattern across the cortex–spinal-cord axis (Amaral D. M. et al 2024)</a:t>
            </a:r>
          </a:p>
          <a:p>
            <a:r>
              <a:rPr lang="en-US" dirty="0">
                <a:solidFill>
                  <a:srgbClr val="1F1F1F"/>
                </a:solidFill>
                <a:latin typeface="ElsevierGulliver"/>
              </a:rPr>
              <a:t>The study of Coan and Mitchell identified neurofilament tangles (78%), as well as amyloid-beta (35%), tau (17%), alpha synuclein (0.04%), and Lewy body formation (11%) inclusion in a population of 46 ALS patients. They even described that 20% of </a:t>
            </a:r>
            <a:r>
              <a:rPr lang="en-US" dirty="0" err="1">
                <a:solidFill>
                  <a:srgbClr val="1F1F1F"/>
                </a:solidFill>
                <a:latin typeface="ElsevierGulliver"/>
              </a:rPr>
              <a:t>sALS</a:t>
            </a:r>
            <a:r>
              <a:rPr lang="en-US" dirty="0">
                <a:solidFill>
                  <a:srgbClr val="1F1F1F"/>
                </a:solidFill>
                <a:latin typeface="ElsevierGulliver"/>
              </a:rPr>
              <a:t> patients form an Alzheimer Disease (AD) subgroup (</a:t>
            </a:r>
            <a:r>
              <a:rPr lang="en-US" dirty="0" err="1">
                <a:solidFill>
                  <a:srgbClr val="1F1F1F"/>
                </a:solidFill>
                <a:latin typeface="ElsevierGulliver"/>
              </a:rPr>
              <a:t>Tzeplaeff</a:t>
            </a:r>
            <a:r>
              <a:rPr lang="en-US" dirty="0">
                <a:solidFill>
                  <a:srgbClr val="1F1F1F"/>
                </a:solidFill>
                <a:latin typeface="ElsevierGulliver"/>
              </a:rPr>
              <a:t> et al. 2024)</a:t>
            </a:r>
          </a:p>
          <a:p>
            <a:endParaRPr lang="en-US" dirty="0">
              <a:solidFill>
                <a:srgbClr val="1F1F1F"/>
              </a:solidFill>
              <a:latin typeface="ElsevierGulliver"/>
            </a:endParaRPr>
          </a:p>
        </p:txBody>
      </p:sp>
    </p:spTree>
    <p:extLst>
      <p:ext uri="{BB962C8B-B14F-4D97-AF65-F5344CB8AC3E}">
        <p14:creationId xmlns:p14="http://schemas.microsoft.com/office/powerpoint/2010/main" val="2713315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1656</TotalTime>
  <Words>1577</Words>
  <Application>Microsoft Macintosh PowerPoint</Application>
  <PresentationFormat>Widescreen</PresentationFormat>
  <Paragraphs>58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ElsevierGulliver</vt:lpstr>
      <vt:lpstr>Harding</vt:lpstr>
      <vt:lpstr>Office Theme</vt:lpstr>
      <vt:lpstr>Fast and slow progressors in ALS</vt:lpstr>
      <vt:lpstr>Fast and slow progressors</vt:lpstr>
      <vt:lpstr>Fast and slow progressors</vt:lpstr>
      <vt:lpstr>Fast and slow progressors</vt:lpstr>
      <vt:lpstr>Fast and slow progressors</vt:lpstr>
      <vt:lpstr>Fast and slow progressors</vt:lpstr>
      <vt:lpstr>Fast and slow progressors</vt:lpstr>
      <vt:lpstr>Fast and slow progressors</vt:lpstr>
      <vt:lpstr>Fast and slow progressors</vt:lpstr>
      <vt:lpstr>Fast and slow progressors (Proteomic data - (Amaral D. M. et al. 2024))</vt:lpstr>
      <vt:lpstr>Fast and slow progressors (Proteomic data - (Amaral D. M. et al. 2024))</vt:lpstr>
      <vt:lpstr>Fast and slow progressors (Proteomic data - (Amaral D. M. et al. 2024))</vt:lpstr>
      <vt:lpstr>ALS pathways </vt:lpstr>
      <vt:lpstr>ALS pathways</vt:lpstr>
      <vt:lpstr>ALS pathways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Bhandary, Priyanka</dc:creator>
  <cp:lastModifiedBy>Bhandary, Priyanka</cp:lastModifiedBy>
  <cp:revision>4</cp:revision>
  <dcterms:created xsi:type="dcterms:W3CDTF">2025-03-31T19:09:56Z</dcterms:created>
  <dcterms:modified xsi:type="dcterms:W3CDTF">2025-04-01T22:46:26Z</dcterms:modified>
</cp:coreProperties>
</file>