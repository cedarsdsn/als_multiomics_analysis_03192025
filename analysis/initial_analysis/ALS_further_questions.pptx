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7" r:id="rId6"/>
    <p:sldId id="260" r:id="rId7"/>
    <p:sldId id="266" r:id="rId8"/>
    <p:sldId id="265" r:id="rId9"/>
    <p:sldId id="261" r:id="rId10"/>
    <p:sldId id="268" r:id="rId11"/>
    <p:sldId id="262" r:id="rId12"/>
    <p:sldId id="269" r:id="rId13"/>
    <p:sldId id="263" r:id="rId14"/>
    <p:sldId id="264" r:id="rId15"/>
    <p:sldId id="270" r:id="rId16"/>
    <p:sldId id="271" r:id="rId17"/>
    <p:sldId id="272" r:id="rId18"/>
    <p:sldId id="273" r:id="rId19"/>
    <p:sldId id="274" r:id="rId20"/>
    <p:sldId id="278" r:id="rId21"/>
    <p:sldId id="277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21"/>
    <p:restoredTop sz="94580"/>
  </p:normalViewPr>
  <p:slideViewPr>
    <p:cSldViewPr snapToGrid="0">
      <p:cViewPr varScale="1">
        <p:scale>
          <a:sx n="150" d="100"/>
          <a:sy n="150" d="100"/>
        </p:scale>
        <p:origin x="7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1E287D-0356-B841-A213-35CF8B7F329D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5ED04B-C565-D641-A136-1A72D6DB07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891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ncodeproject.org/data-standards/terms/#enrichment" TargetMode="External"/><Relationship Id="rId3" Type="http://schemas.openxmlformats.org/officeDocument/2006/relationships/hyperlink" Target="https://www.encodeproject.org/data-standards/terms/#replication" TargetMode="External"/><Relationship Id="rId7" Type="http://schemas.openxmlformats.org/officeDocument/2006/relationships/hyperlink" Target="https://www.encodeproject.org/atac-seq/#output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encodeproject.org/data-standards/terms/#library" TargetMode="External"/><Relationship Id="rId5" Type="http://schemas.openxmlformats.org/officeDocument/2006/relationships/hyperlink" Target="https://www.encodeproject.org/data-standards/terms/#concordance" TargetMode="External"/><Relationship Id="rId4" Type="http://schemas.openxmlformats.org/officeDocument/2006/relationships/hyperlink" Target="https://www.encodeproject.org/data-standards/terms/#read-depth" TargetMode="Externa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5ED04B-C565-D641-A136-1A72D6DB070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02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Experiments should have two or more </a:t>
            </a:r>
            <a:r>
              <a:rPr lang="en-US" b="0" i="0" u="none" strike="noStrike" dirty="0">
                <a:solidFill>
                  <a:srgbClr val="428BCA"/>
                </a:solidFill>
                <a:effectLst/>
                <a:latin typeface="Mada"/>
                <a:hlinkClick r:id="rId3"/>
              </a:rPr>
              <a:t>biological replicates</a:t>
            </a: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. Assays performed using EN-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Mada"/>
              </a:rPr>
              <a:t>TEx</a:t>
            </a: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 samples may be exempted due to limited availability of experimental material, but at least two </a:t>
            </a:r>
            <a:r>
              <a:rPr lang="en-US" b="0" i="0" u="none" strike="noStrike" dirty="0">
                <a:solidFill>
                  <a:srgbClr val="428BCA"/>
                </a:solidFill>
                <a:effectLst/>
                <a:latin typeface="Mada"/>
                <a:hlinkClick r:id="rId3"/>
              </a:rPr>
              <a:t>technical replicates</a:t>
            </a: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 are required. 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Each replicate should have 25 million</a:t>
            </a:r>
            <a:r>
              <a:rPr lang="en-US" b="1" i="0" dirty="0">
                <a:solidFill>
                  <a:srgbClr val="000000"/>
                </a:solidFill>
                <a:effectLst/>
                <a:latin typeface="Mada"/>
              </a:rPr>
              <a:t> </a:t>
            </a: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non-duplicate, non-mitochondrial </a:t>
            </a:r>
            <a:r>
              <a:rPr lang="en-US" b="0" i="0" u="none" strike="noStrike" dirty="0">
                <a:solidFill>
                  <a:srgbClr val="428BCA"/>
                </a:solidFill>
                <a:effectLst/>
                <a:latin typeface="Mada"/>
                <a:hlinkClick r:id="rId4"/>
              </a:rPr>
              <a:t>aligned reads</a:t>
            </a: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 for single-end sequencing and 50 million for paired-ended sequencing (i.e. 25 million fragments, regardless of sequencing run type). 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The alignment rate, or percentage of mapped reads, should be greater than 95%, though values &gt;80% may be acceptable. 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Replicate concordance is measured by calculating</a:t>
            </a:r>
            <a:r>
              <a:rPr lang="en-US" b="0" i="0" u="none" strike="noStrike" dirty="0">
                <a:solidFill>
                  <a:srgbClr val="428BCA"/>
                </a:solidFill>
                <a:effectLst/>
                <a:latin typeface="Mada"/>
                <a:hlinkClick r:id="rId5"/>
              </a:rPr>
              <a:t> IDR values</a:t>
            </a: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 (Irreproducible Discovery Rate). The experiment passes if both rescue and self consistency ratios are less than 2.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Library complexity is measured using the </a:t>
            </a:r>
            <a:r>
              <a:rPr lang="en-US" b="0" i="0" u="none" strike="noStrike" dirty="0">
                <a:solidFill>
                  <a:srgbClr val="428BCA"/>
                </a:solidFill>
                <a:effectLst/>
                <a:latin typeface="Mada"/>
                <a:hlinkClick r:id="rId6"/>
              </a:rPr>
              <a:t>Non-Redundant Fraction (NRF) and PCR Bottlenecking Coefficients 1 and 2, or PBC1 and PBC2</a:t>
            </a: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. The preferred values are as follows: NRF&gt;0.9, PBC1&gt;0.9, and PBC2&gt;3. 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Various peak files must meet certain requirements. Please visit the </a:t>
            </a:r>
            <a:r>
              <a:rPr lang="en-US" b="0" i="0" u="none" strike="noStrike" dirty="0">
                <a:solidFill>
                  <a:srgbClr val="428BCA"/>
                </a:solidFill>
                <a:effectLst/>
                <a:latin typeface="Mada"/>
                <a:hlinkClick r:id="rId7"/>
              </a:rPr>
              <a:t>section on output files</a:t>
            </a: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 under the pipeline overview for more information on peak files.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The number of peaks within a replicated peak file should be &gt;150,000, though values &gt;100,000 may be acceptable. 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The number of peaks within an IDR peak file should be &gt;70,000, though values &gt;50,000 may be acceptable.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A nucleosome free region (NFR) must be present.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A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Mada"/>
              </a:rPr>
              <a:t>mononucleosome</a:t>
            </a: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 peak must be present in the fragment length distribution. These are reads that span a single nucleosome, so they are longer than 147 bp but shorter than 147*2 bp. Good ATAC-seq datasets have reads that span nucleosomes (which allows for calling nucleosome positions in addition to open regions of chromatin).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The fraction of reads in called peak regions (</a:t>
            </a:r>
            <a:r>
              <a:rPr lang="en-US" b="0" i="0" u="none" strike="noStrike" dirty="0">
                <a:solidFill>
                  <a:srgbClr val="428BCA"/>
                </a:solidFill>
                <a:effectLst/>
                <a:latin typeface="Mada"/>
                <a:hlinkClick r:id="rId8"/>
              </a:rPr>
              <a:t>FRiP score</a:t>
            </a: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) should be &gt;0.3, though values greater than 0.2 are acceptable. For EN-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Mada"/>
              </a:rPr>
              <a:t>TEx</a:t>
            </a:r>
            <a:r>
              <a:rPr lang="en-US" b="0" i="0" dirty="0">
                <a:solidFill>
                  <a:srgbClr val="000000"/>
                </a:solidFill>
                <a:effectLst/>
                <a:latin typeface="Mada"/>
              </a:rPr>
              <a:t> tissues, FRiP scores will not be enforced as QC metric. TSS enrichment remains in place as a key signal to noise measure.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5ED04B-C565-D641-A136-1A72D6DB070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60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5ED04B-C565-D641-A136-1A72D6DB070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4045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5ED04B-C565-D641-A136-1A72D6DB070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972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6BC78-0B07-0DF4-B5B0-6645B47746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70093B-E9CE-EF0B-9205-F004B210E5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96FF3-7230-833C-A6F6-BD83A4814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C8986-445C-A241-8ADB-D93288726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5EC60-8827-1B62-3700-A9D3ACF3E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72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8B2C0-4C54-27CB-FC3B-AC00DF19A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DA8E1-CDAB-5452-147A-60DCDC3378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03398-0706-F6C8-B327-31DE725BD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3107F-E115-EDC3-D2F6-0A5308D9E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CE110C-EC5B-B125-37B9-0178CBD62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956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4C9A7-5DCB-318F-2E2C-FFB89E73B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A792E6-FBFD-7BAE-F279-CCB18DF693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A6D92-E8DC-C00F-4C96-4E23B8C3B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EEBC65-8F6D-7482-B812-540D7368E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CEB8CD-E70B-7BFA-CA40-A975D105B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490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BAC3D-084F-15E7-A3B5-114175359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80564-2C7A-DEA0-74FC-6C3B071D5F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2CE14C-37E0-3ACD-68A8-79D867199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E96AEB-BFB3-0521-0176-8588358B8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19856-9069-5647-2D0F-817B304C3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EE351-B6AE-80A5-C936-652083E77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70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63A59-D983-6D59-E5E1-A39F291F5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A776F-9A34-44C3-61B0-1B594A1BF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E87D6-64BD-2EE2-DD0A-3EF117C34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C864B-1838-32CC-BB17-DB4524CA07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0C1D74-59B4-5EE3-DF50-BF9D18E273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F20B03-F91B-5526-C333-D2A3F8E10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B7CE3F-94D6-D008-3508-FF0ABC7F5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D9B31C-18CF-458A-D991-9A20CB3A7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895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D9F74-EE00-1171-F383-4D61A4851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EA9790-613E-83AB-7AF0-BAA4AF725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8F5FB0-2F78-4159-DEBE-C1D2A90A8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D9E924-3DDB-74A8-77BC-825D90412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801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67A577-08E4-EFB4-9350-90EC7E70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8C1C56-8FFE-FF56-4598-D1F7D99C9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CDE13-F3D2-FBAC-E55B-683BB0058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553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7FBA0-38FE-92A5-4211-366F9937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E1C50-A8A9-6A56-3FF5-ED39EF224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A95A85-1F9C-78A3-0E09-EAFFEA8C4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8C481-3C5A-094D-08B2-C9ABE4EA4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BC32A-70CA-1228-0966-E2F81875D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678808-89D6-AD8A-38D1-711D5A9F1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594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10863-7647-67AB-D372-87772A795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523E2F-4080-EF5B-D55A-1EA3F5EF57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E8342-1BCC-4172-D3D7-42A7B77F78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6DAB4-123D-93AF-C768-E468669DF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D51E2-A589-F7E8-17E2-6721D82D9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E7ECB3-6FFB-7893-E89A-AD174B93B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459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8008-E0B0-8785-5667-9BE82CD58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F3B152-5A7F-7EF5-C2D4-4582C54CBD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1C434-7F1E-FFD1-6CB9-666BCDAE0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AE37F-80E3-5058-F05E-D7D5C0810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66B89-1D79-A19D-360E-4B31C78B3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01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61EAFF-1C01-8C7E-9856-89271D0A9A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2659F9-6A70-7282-448B-639223D8AD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2742D-29D6-FAEA-63F1-030250114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96845-45DF-2014-7C20-CFC0CE031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57DFE9-0040-5283-5D62-FFB8D93BD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055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BADC92-62B2-5202-DBA8-50A2E4E62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59AA30-EB28-B106-70A7-D94EB8A87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F76CC-1893-46EB-0D3D-FDCD98A84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E38A96-0825-F84B-8E34-3D1A14BC06B1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95B2A-4769-2A0D-2D6E-2E74FDC58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DFA13-4494-73E5-3A2D-4F1F9F812D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E3CF96-ACE1-7E41-85D1-493906D754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875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mcgenomics.biomedcentral.com/articles/10.1186/s12864-024-10706-3" TargetMode="External"/><Relationship Id="rId3" Type="http://schemas.openxmlformats.org/officeDocument/2006/relationships/hyperlink" Target="https://www.frontiersin.org/journals/genetics/articles/10.3389/fgene.2022.818574/full" TargetMode="External"/><Relationship Id="rId7" Type="http://schemas.openxmlformats.org/officeDocument/2006/relationships/hyperlink" Target="https://jordan-lab.gitbook.io/irt-for-crc/polygenic-risk-scores" TargetMode="External"/><Relationship Id="rId2" Type="http://schemas.openxmlformats.org/officeDocument/2006/relationships/hyperlink" Target="https://www.nature.com/articles/s41596-020-0353-1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nflammregen.biomedcentral.com/articles/10.1186/s41232-021-00172-9" TargetMode="External"/><Relationship Id="rId5" Type="http://schemas.openxmlformats.org/officeDocument/2006/relationships/hyperlink" Target="https://odap-ico.github.io/PRS_tutorial/" TargetMode="External"/><Relationship Id="rId4" Type="http://schemas.openxmlformats.org/officeDocument/2006/relationships/hyperlink" Target="https://choishingwan.github.io/PRS-Tutorial/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D5B86-ACCB-E58C-2DC8-486EA97EBB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Further questions on 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C128A9-357B-63A7-7951-9F9CBDB872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586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1A3A1-A770-5A4F-87B2-598152191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there any genetic basis for fast and slow progressors? Are there any other factors?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89EA4-75BC-49BB-9CED-F32B0B6CA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Genetic variation</a:t>
            </a:r>
          </a:p>
          <a:p>
            <a:r>
              <a:rPr lang="en-US" dirty="0"/>
              <a:t>Age </a:t>
            </a:r>
          </a:p>
          <a:p>
            <a:r>
              <a:rPr lang="en-US" dirty="0"/>
              <a:t>The relative involvement of lower and upper motor neurons</a:t>
            </a:r>
          </a:p>
          <a:p>
            <a:r>
              <a:rPr lang="en-US" dirty="0"/>
              <a:t>Energy metabolism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939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28BB6-EFA9-E8C8-5AAE-6C00DC744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there any genetic basis for fast and slow progressors? Are there any other factors?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5C422-72E7-5ADD-B249-63203F28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en-US" dirty="0"/>
              <a:t>Younger age at onset and spinal onset – prolonged survival </a:t>
            </a:r>
          </a:p>
          <a:p>
            <a:r>
              <a:rPr lang="en-US" dirty="0"/>
              <a:t>If upper motor neurons are affected, slower progression and increased survival and vice-versa</a:t>
            </a:r>
          </a:p>
          <a:p>
            <a:r>
              <a:rPr lang="en-US" dirty="0"/>
              <a:t>Lower BMI at diagnosis and weight loss during disease course – shorter survival</a:t>
            </a:r>
          </a:p>
          <a:p>
            <a:r>
              <a:rPr lang="en-US" dirty="0"/>
              <a:t>Note – Weight loss mostly starts 1 decade before symptoms related to motor activity</a:t>
            </a:r>
          </a:p>
        </p:txBody>
      </p:sp>
    </p:spTree>
    <p:extLst>
      <p:ext uri="{BB962C8B-B14F-4D97-AF65-F5344CB8AC3E}">
        <p14:creationId xmlns:p14="http://schemas.microsoft.com/office/powerpoint/2010/main" val="597205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28EA8-DFCC-EE2B-E0DB-546CBD494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Genetic factors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9C21D-6691-F591-2330-2D5DC453C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effectLst/>
              </a:rPr>
              <a:t>C9orf72 </a:t>
            </a:r>
            <a:r>
              <a:rPr lang="en-US" dirty="0">
                <a:effectLst/>
              </a:rPr>
              <a:t>expansions and </a:t>
            </a:r>
            <a:r>
              <a:rPr lang="en-US" i="1" dirty="0">
                <a:effectLst/>
              </a:rPr>
              <a:t>FUS </a:t>
            </a:r>
            <a:r>
              <a:rPr lang="en-US" dirty="0">
                <a:effectLst/>
              </a:rPr>
              <a:t>mutations were only found in fast progressors (Witzel et al. 2022)</a:t>
            </a:r>
          </a:p>
          <a:p>
            <a:r>
              <a:rPr lang="en-US" i="1" dirty="0"/>
              <a:t>SOD1 </a:t>
            </a:r>
            <a:r>
              <a:rPr lang="en-US" dirty="0"/>
              <a:t>mutations were frequent in both groups </a:t>
            </a:r>
            <a:r>
              <a:rPr lang="en-US" dirty="0">
                <a:effectLst/>
              </a:rPr>
              <a:t>(Witzel et al. 2022)</a:t>
            </a:r>
          </a:p>
          <a:p>
            <a:r>
              <a:rPr lang="en-US" i="1" dirty="0"/>
              <a:t>TDP-43</a:t>
            </a:r>
            <a:r>
              <a:rPr lang="en-US" dirty="0"/>
              <a:t> pathologic burden in lumbar cord was significantly associated with faster progression and reduced survival (Cathcart et al 2021)</a:t>
            </a:r>
          </a:p>
          <a:p>
            <a:r>
              <a:rPr lang="en-US" i="1" dirty="0"/>
              <a:t>C9orf72</a:t>
            </a:r>
            <a:r>
              <a:rPr lang="en-US" dirty="0"/>
              <a:t> carriers showed lower BMI, lower fasting serum glucose, and higher HDL compared to controls, </a:t>
            </a:r>
            <a:r>
              <a:rPr lang="en-US" i="1" dirty="0"/>
              <a:t>SOD1</a:t>
            </a:r>
            <a:r>
              <a:rPr lang="en-US" dirty="0"/>
              <a:t> carriers demonstrated higher BMI, higher fasting serum glucose, and lower HDL compared to healthy controls (</a:t>
            </a:r>
            <a:r>
              <a:rPr lang="en-US" dirty="0" err="1"/>
              <a:t>Tzeplaeff</a:t>
            </a:r>
            <a:r>
              <a:rPr lang="en-US" dirty="0"/>
              <a:t> 2024)</a:t>
            </a:r>
          </a:p>
          <a:p>
            <a:endParaRPr lang="en-US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5142279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681FB-3F46-C21B-73AC-56B95AF3E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pre-processing in </a:t>
            </a:r>
            <a:r>
              <a:rPr lang="en-US" dirty="0" err="1"/>
              <a:t>AnswerALS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2ED154-3900-366C-720D-898648C06A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530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35B07-AB1B-7BFD-8178-A7B6CE520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pre-processing - Transcriptomics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4B141-3817-0A7A-A129-330157B534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sequencing, raw reads were subject to QC measures and reads with quality scores &gt;20 collected and analyzed</a:t>
            </a:r>
          </a:p>
          <a:p>
            <a:r>
              <a:rPr lang="en-US" dirty="0"/>
              <a:t>Reads were mapped to the GRCh38 reference genome using Hisat2, </a:t>
            </a:r>
            <a:r>
              <a:rPr lang="en-US" dirty="0" err="1"/>
              <a:t>QCed</a:t>
            </a:r>
            <a:r>
              <a:rPr lang="en-US" dirty="0"/>
              <a:t> and gene expression quantified with </a:t>
            </a:r>
            <a:r>
              <a:rPr lang="en-US" dirty="0" err="1"/>
              <a:t>featureCounts</a:t>
            </a:r>
            <a:r>
              <a:rPr lang="en-US" dirty="0"/>
              <a:t>, and differential expression was quantified using DESeq2</a:t>
            </a:r>
          </a:p>
          <a:p>
            <a:r>
              <a:rPr lang="en-US" dirty="0"/>
              <a:t>Normalized and transformed count data were also used for exploratory analysis</a:t>
            </a:r>
          </a:p>
          <a:p>
            <a:r>
              <a:rPr lang="en-US" dirty="0"/>
              <a:t>DE genes were used for pathway analysis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469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C9DB3-AF9D-0A04-0918-F3B039F86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94AA1A-3F72-36AC-91F8-24C95ED1C2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control groups –</a:t>
            </a:r>
          </a:p>
          <a:p>
            <a:r>
              <a:rPr lang="en-US" b="1" dirty="0"/>
              <a:t>Batch differentiation control (BDC) </a:t>
            </a:r>
            <a:r>
              <a:rPr lang="en-US" dirty="0"/>
              <a:t>- BDCs were differentiated with each batch from the same original line to assess </a:t>
            </a:r>
            <a:r>
              <a:rPr lang="en-US" dirty="0" err="1"/>
              <a:t>interbatch</a:t>
            </a:r>
            <a:r>
              <a:rPr lang="en-US" dirty="0"/>
              <a:t> variability of </a:t>
            </a:r>
            <a:r>
              <a:rPr lang="en-US" dirty="0" err="1"/>
              <a:t>iPS</a:t>
            </a:r>
            <a:r>
              <a:rPr lang="en-US" dirty="0"/>
              <a:t> cell differentiation</a:t>
            </a:r>
          </a:p>
          <a:p>
            <a:r>
              <a:rPr lang="en-US" b="1" dirty="0"/>
              <a:t>Batch technical control (BTC) </a:t>
            </a:r>
            <a:r>
              <a:rPr lang="en-US" dirty="0"/>
              <a:t>- BTC (Batch Technical Control) refers to a single differentiation of the same iPSC line that was frozen, aliquoted, and distributed with each batch to assess technical variability in omics assay batch runs.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3087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1B117-5C1C-B556-108A-1143FE230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quality and batch effect assessments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95FED-C15D-5564-2DC8-80434412C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1224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For RNA-seq data, samples passed all QC metrics – RNA integrity, library and sequencing QC metrics</a:t>
            </a:r>
          </a:p>
          <a:p>
            <a:r>
              <a:rPr lang="en-US" dirty="0"/>
              <a:t>Sample to sample SERE scores generated using expression for BDCs, BTCs and all other samples</a:t>
            </a:r>
          </a:p>
          <a:p>
            <a:r>
              <a:rPr lang="en-US" dirty="0"/>
              <a:t>SERE scores measure </a:t>
            </a:r>
            <a:r>
              <a:rPr lang="en-US" b="1" dirty="0"/>
              <a:t>the consistency (reproducibility) of expression levels</a:t>
            </a:r>
            <a:r>
              <a:rPr lang="en-US" dirty="0"/>
              <a:t> across </a:t>
            </a:r>
            <a:r>
              <a:rPr lang="en-US" b="1" dirty="0"/>
              <a:t>replicates</a:t>
            </a:r>
            <a:r>
              <a:rPr lang="en-US" dirty="0"/>
              <a:t> within an experiment</a:t>
            </a:r>
          </a:p>
          <a:p>
            <a:r>
              <a:rPr lang="en-US" dirty="0"/>
              <a:t>They are used to quantify how much </a:t>
            </a:r>
            <a:r>
              <a:rPr lang="en-US" b="1" dirty="0"/>
              <a:t>technical or biological variability</a:t>
            </a:r>
            <a:r>
              <a:rPr lang="en-US" dirty="0"/>
              <a:t> is present in omics data</a:t>
            </a:r>
          </a:p>
          <a:p>
            <a:r>
              <a:rPr lang="en-US" dirty="0"/>
              <a:t>Although BTCs form their own cluster, the rest of the samples fall into multiple small clusters with no clear relationship to their disease status.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8014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C1B6D-987E-6E98-A17D-28947FB70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pre-processing - Epigenomics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B22120-4B3F-55BF-3946-01C23F74E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Sequencing quality was assessed using </a:t>
            </a:r>
            <a:r>
              <a:rPr lang="en-US" dirty="0" err="1"/>
              <a:t>FastQC</a:t>
            </a:r>
            <a:r>
              <a:rPr lang="en-US" dirty="0"/>
              <a:t> and the reads were aligned to GRCh38 genome build using Bowtie</a:t>
            </a:r>
          </a:p>
          <a:p>
            <a:r>
              <a:rPr lang="en-US" dirty="0"/>
              <a:t>Identified open chromatin regions separately for each sample using the peak-calling software MACS2 and determined differentially open sites using DESeq2</a:t>
            </a:r>
          </a:p>
          <a:p>
            <a:r>
              <a:rPr lang="en-US" dirty="0"/>
              <a:t>Peaks were assigned to unique genes using the default HOMER37 parameters, and gene ontology analysis was performed using </a:t>
            </a:r>
            <a:r>
              <a:rPr lang="en-US" dirty="0" err="1"/>
              <a:t>GOrilla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8635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A6F02-C76C-B385-B720-B2B5B51AA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quality and batch effect assessments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4EE46-865A-5C42-F6E4-EA5668864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ATAC-seq data quality was determined according to ENCODE</a:t>
            </a:r>
          </a:p>
          <a:p>
            <a:r>
              <a:rPr lang="en-US" dirty="0"/>
              <a:t>Replicates from the batch control line were highly correlated with each other, with BTCs having an even smaller variation in correlation values compared with BDCs</a:t>
            </a:r>
          </a:p>
          <a:p>
            <a:r>
              <a:rPr lang="en-US" dirty="0"/>
              <a:t>Counts matrix of reads mapped to peaks in consensus </a:t>
            </a:r>
            <a:r>
              <a:rPr lang="en-US" dirty="0" err="1"/>
              <a:t>peakset</a:t>
            </a:r>
            <a:r>
              <a:rPr lang="en-US" dirty="0"/>
              <a:t> was used for hierarchical clustering</a:t>
            </a:r>
          </a:p>
          <a:p>
            <a:r>
              <a:rPr lang="en-US" dirty="0"/>
              <a:t>Subjects didn’t cluster by disease, status, sex or processing batch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3023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5ADB3-97EE-E1C1-DB68-D129F8FAB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pre-processing - Proteomics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B52E4-CAEA-6824-22BC-30A3E289A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Samples were acquired in DDA mode for ion library generation and in DIA mode over 100 variable windows</a:t>
            </a:r>
          </a:p>
          <a:p>
            <a:r>
              <a:rPr lang="en-US" dirty="0"/>
              <a:t>DDA data were used for the generation of a sample-specific peptide ion library.</a:t>
            </a:r>
          </a:p>
          <a:p>
            <a:r>
              <a:rPr lang="en-US" dirty="0"/>
              <a:t>DDA files were run through a trans-proteome pipeline using a human canonical FASTA file</a:t>
            </a:r>
          </a:p>
          <a:p>
            <a:r>
              <a:rPr lang="en-US" dirty="0"/>
              <a:t>A consensus peptide library with decoys was generated and used to quantify ions identified in DIA data files</a:t>
            </a:r>
          </a:p>
          <a:p>
            <a:r>
              <a:rPr lang="en-US" dirty="0"/>
              <a:t>The differential protein expression between ALS and control samples analyzed was calculated using </a:t>
            </a:r>
            <a:r>
              <a:rPr lang="en-US" dirty="0" err="1"/>
              <a:t>mapDIA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8A26A2-5673-9326-5CA3-B838DBA96E8A}"/>
              </a:ext>
            </a:extLst>
          </p:cNvPr>
          <p:cNvSpPr txBox="1"/>
          <p:nvPr/>
        </p:nvSpPr>
        <p:spPr>
          <a:xfrm>
            <a:off x="720969" y="290146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321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AD923-D439-5CBE-BBA9-4FA40D56C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quality and batch effect assessments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341F5-93C8-3FBF-2252-C4845C83BE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percentage coefficient of variation for the proteins quantified were calculated for the BTC and BDC samples</a:t>
            </a:r>
          </a:p>
          <a:p>
            <a:r>
              <a:rPr lang="en-US" dirty="0"/>
              <a:t>BDCs and BTCs cluster tightly indicating minimal drift between the samples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0509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AA2A3-2407-61C4-BD0E-909123A24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pre-processing – WGS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D48CE-1D72-7818-13CE-649D53BA4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Evaluated pathogenic or probable pathogenic variants reported in </a:t>
            </a:r>
            <a:r>
              <a:rPr lang="en-US" dirty="0" err="1"/>
              <a:t>ClinVar</a:t>
            </a:r>
            <a:r>
              <a:rPr lang="en-US" dirty="0"/>
              <a:t> (C-PLP) for all genes</a:t>
            </a:r>
          </a:p>
          <a:p>
            <a:r>
              <a:rPr lang="en-US" dirty="0"/>
              <a:t>Examined pathogenic variants called by </a:t>
            </a:r>
            <a:r>
              <a:rPr lang="en-US" dirty="0" err="1"/>
              <a:t>Intervar</a:t>
            </a:r>
            <a:r>
              <a:rPr lang="en-US" dirty="0"/>
              <a:t> Li (I-PLP) and predicted damaging variants as called by in-silico prediction tools (IS-D)</a:t>
            </a:r>
          </a:p>
          <a:p>
            <a:r>
              <a:rPr lang="en-US" dirty="0"/>
              <a:t>The variant call formats (VCFs) were converted into genomic VCFs (GVCFs), and joint genotyping calling was run using </a:t>
            </a:r>
            <a:r>
              <a:rPr lang="en-US" dirty="0" err="1"/>
              <a:t>Sentieon</a:t>
            </a:r>
            <a:r>
              <a:rPr lang="en-US" dirty="0"/>
              <a:t> v.201911; applied variant quality score recalibration (VQSR) was done using GATK v.3.8 (truth sensitivity level = 99.0), and the files were annotated using </a:t>
            </a:r>
            <a:r>
              <a:rPr lang="en-US" dirty="0" err="1"/>
              <a:t>Annovar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9621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D5A39-FBE9-3872-80CC-29AAE1D38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pre-processing - WGS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85963-F204-F8C7-719A-6E6ACE453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each variant, incorporated functional in silico predictions from nine programs</a:t>
            </a:r>
          </a:p>
          <a:p>
            <a:r>
              <a:rPr lang="en-US" dirty="0"/>
              <a:t>Additional databases were included that assess the variant tolerance of each gene</a:t>
            </a:r>
          </a:p>
          <a:p>
            <a:r>
              <a:rPr lang="en-US" dirty="0"/>
              <a:t>For variants in genes that are highly expressed in the brain, incorporated data from the Human Protein Atlas and expression data from </a:t>
            </a:r>
            <a:r>
              <a:rPr lang="en-US" dirty="0" err="1"/>
              <a:t>GTEx</a:t>
            </a:r>
            <a:r>
              <a:rPr lang="en-US" dirty="0"/>
              <a:t> portal</a:t>
            </a:r>
          </a:p>
          <a:p>
            <a:r>
              <a:rPr lang="en-US" dirty="0"/>
              <a:t>A separate annotation pipeline was developed for variants in intergenic and regulatory regions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48807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F6396-3CDC-925C-95AF-28BF79CB5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PRS scores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B647-ABDA-FA69-E634-499FE96EC8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PRS are calculated by computing the sum of risk alleles corresponding to a phenotype of interest in each individual, weighted by the effect size estimate of the most powerful GWAS on the phenotype</a:t>
            </a:r>
          </a:p>
          <a:p>
            <a:r>
              <a:rPr lang="en-US" dirty="0"/>
              <a:t>Substantially greater predictive power can usually be achieved by using PRS rather than a small number of genome-wide significant SNPs </a:t>
            </a:r>
          </a:p>
          <a:p>
            <a:r>
              <a:rPr lang="en-US" dirty="0"/>
              <a:t>Identifies shared genetic causes of traits but also tests for genome wide gene*environment and gene*gene interactions</a:t>
            </a:r>
          </a:p>
        </p:txBody>
      </p:sp>
    </p:spTree>
    <p:extLst>
      <p:ext uri="{BB962C8B-B14F-4D97-AF65-F5344CB8AC3E}">
        <p14:creationId xmlns:p14="http://schemas.microsoft.com/office/powerpoint/2010/main" val="35733837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83A0-AA5E-1055-D612-F5DF6A482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PRS scores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E6582-D5F7-3817-C441-D3CD83AC3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Polygenic Risk Score (PRS) Formula -</a:t>
            </a:r>
          </a:p>
          <a:p>
            <a:r>
              <a:rPr lang="en-US" b="1" dirty="0" err="1"/>
              <a:t>PRS</a:t>
            </a:r>
            <a:r>
              <a:rPr lang="en-US" b="1" baseline="-25000" dirty="0" err="1"/>
              <a:t>j</a:t>
            </a:r>
            <a:r>
              <a:rPr lang="en-US" b="1" dirty="0"/>
              <a:t> = ∑ (</a:t>
            </a:r>
            <a:r>
              <a:rPr lang="en-US" b="1" dirty="0" err="1"/>
              <a:t>G</a:t>
            </a:r>
            <a:r>
              <a:rPr lang="en-US" b="1" baseline="-25000" dirty="0" err="1"/>
              <a:t>ij</a:t>
            </a:r>
            <a:r>
              <a:rPr lang="en-US" b="1" dirty="0"/>
              <a:t> × </a:t>
            </a:r>
            <a:r>
              <a:rPr lang="el-GR" b="1" dirty="0"/>
              <a:t>β</a:t>
            </a:r>
            <a:r>
              <a:rPr lang="en-US" b="1" baseline="-25000" dirty="0" err="1"/>
              <a:t>i</a:t>
            </a:r>
            <a:r>
              <a:rPr lang="en-US" b="1" dirty="0"/>
              <a:t>), for </a:t>
            </a:r>
            <a:r>
              <a:rPr lang="en-US" b="1" dirty="0" err="1"/>
              <a:t>i</a:t>
            </a:r>
            <a:r>
              <a:rPr lang="en-US" b="1" dirty="0"/>
              <a:t> = 1 to n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 err="1"/>
              <a:t>PRS</a:t>
            </a:r>
            <a:r>
              <a:rPr lang="en-US" b="1" baseline="-25000" dirty="0" err="1"/>
              <a:t>j</a:t>
            </a:r>
            <a:r>
              <a:rPr lang="en-US" dirty="0"/>
              <a:t>: Polygenic Risk Score for individual </a:t>
            </a:r>
            <a:r>
              <a:rPr lang="en-US" i="1" dirty="0"/>
              <a:t>j</a:t>
            </a:r>
            <a:endParaRPr lang="en-US" dirty="0"/>
          </a:p>
          <a:p>
            <a:pPr>
              <a:buNone/>
            </a:pPr>
            <a:r>
              <a:rPr lang="en-US" b="1" dirty="0" err="1"/>
              <a:t>G</a:t>
            </a:r>
            <a:r>
              <a:rPr lang="en-US" b="1" baseline="-25000" dirty="0" err="1"/>
              <a:t>ij</a:t>
            </a:r>
            <a:r>
              <a:rPr lang="en-US" dirty="0"/>
              <a:t>: Genotype dosage for SNP </a:t>
            </a:r>
            <a:r>
              <a:rPr lang="en-US" i="1" dirty="0" err="1"/>
              <a:t>i</a:t>
            </a:r>
            <a:r>
              <a:rPr lang="en-US" dirty="0"/>
              <a:t> in individual </a:t>
            </a:r>
            <a:r>
              <a:rPr lang="en-US" i="1" dirty="0"/>
              <a:t>j</a:t>
            </a:r>
            <a:r>
              <a:rPr lang="en-US" dirty="0"/>
              <a:t> (values = 0, 1, or 2)</a:t>
            </a:r>
          </a:p>
          <a:p>
            <a:pPr>
              <a:buNone/>
            </a:pPr>
            <a:r>
              <a:rPr lang="el-GR" b="1" dirty="0"/>
              <a:t>β</a:t>
            </a:r>
            <a:r>
              <a:rPr lang="en-US" b="1" baseline="-25000" dirty="0" err="1"/>
              <a:t>i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Effect size (e.g., beta or log(OR)) from GWAS for SNP </a:t>
            </a:r>
            <a:r>
              <a:rPr lang="en-US" i="1" dirty="0" err="1">
                <a:solidFill>
                  <a:srgbClr val="FF0000"/>
                </a:solidFill>
              </a:rPr>
              <a:t>i</a:t>
            </a: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b="1" dirty="0"/>
              <a:t>n</a:t>
            </a:r>
            <a:r>
              <a:rPr lang="en-US" dirty="0"/>
              <a:t>: Number of SNPs included in the score</a:t>
            </a:r>
          </a:p>
          <a:p>
            <a:pPr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0081164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0DF16-7225-1C6C-2B5E-B8E699A63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PRS scores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DC797-1EA1-0420-54CE-60BCB35731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PRS analyses can be characterized by the two input data sets that they require:</a:t>
            </a:r>
          </a:p>
          <a:p>
            <a:pPr marL="571500" indent="-571500">
              <a:buAutoNum type="romanLcParenBoth"/>
            </a:pPr>
            <a:r>
              <a:rPr lang="en-US" dirty="0"/>
              <a:t>base (GWAS) data: summary statistics (e.g. betas, P-values) of genotype-phenotype associations at genetic variants (hereafter SNPs) genome-wide, and </a:t>
            </a:r>
          </a:p>
          <a:p>
            <a:pPr marL="571500" indent="-571500">
              <a:buAutoNum type="romanLcParenBoth"/>
            </a:pPr>
            <a:r>
              <a:rPr lang="en-US" dirty="0"/>
              <a:t>(ii) target data: genotypes and phenotype(s) in individuals of the target sample.</a:t>
            </a:r>
          </a:p>
        </p:txBody>
      </p:sp>
    </p:spTree>
    <p:extLst>
      <p:ext uri="{BB962C8B-B14F-4D97-AF65-F5344CB8AC3E}">
        <p14:creationId xmlns:p14="http://schemas.microsoft.com/office/powerpoint/2010/main" val="3550723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47B45-286F-1B22-2A2B-8352DF5FD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PRS scores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96271-C1DE-5E83-5AF9-B8454371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Larger the GWAS sample size, the greater the predictive power</a:t>
            </a:r>
          </a:p>
          <a:p>
            <a:r>
              <a:rPr lang="en-US" dirty="0"/>
              <a:t>The power and validity of PRS analyses are dependent on the quality of the base and target data </a:t>
            </a:r>
          </a:p>
          <a:p>
            <a:pPr lvl="1"/>
            <a:r>
              <a:rPr lang="en-US" dirty="0"/>
              <a:t>Stringent QC at every step</a:t>
            </a:r>
          </a:p>
          <a:p>
            <a:r>
              <a:rPr lang="en-US" dirty="0"/>
              <a:t>Other factors to consider</a:t>
            </a:r>
          </a:p>
          <a:p>
            <a:pPr lvl="1"/>
            <a:r>
              <a:rPr lang="en-US" dirty="0"/>
              <a:t>Selection of SNPs for inclusion in the score</a:t>
            </a:r>
          </a:p>
          <a:p>
            <a:pPr lvl="1"/>
            <a:r>
              <a:rPr lang="en-US" dirty="0"/>
              <a:t>What shrinkage to apply to the GWAS effect size estimates</a:t>
            </a:r>
          </a:p>
          <a:p>
            <a:pPr lvl="1"/>
            <a:r>
              <a:rPr lang="en-US" dirty="0"/>
              <a:t>If above parameters are unknown, target sample will be used for model training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4706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3D451-EF37-FE4E-9C8B-2D9AD5DEC9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we calculate PRS using only VCF files?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5B726-7DFA-3C51-5486-1B35D7A86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NO</a:t>
            </a:r>
          </a:p>
          <a:p>
            <a:r>
              <a:rPr lang="en-US" dirty="0"/>
              <a:t>Overall, to calculate PRS scores, we need both base data (GWAS summary statistics) and target data (</a:t>
            </a:r>
            <a:r>
              <a:rPr lang="en-US" dirty="0" err="1"/>
              <a:t>AnswerALS</a:t>
            </a:r>
            <a:r>
              <a:rPr lang="en-US" dirty="0"/>
              <a:t> SNPs)</a:t>
            </a:r>
          </a:p>
          <a:p>
            <a:r>
              <a:rPr lang="en-US" dirty="0"/>
              <a:t>VCF file only gives us the genotype, but we need GWAS data to assign effect sizes to each SNP, allowing us to weigh their contribution to the trait or disease</a:t>
            </a:r>
          </a:p>
        </p:txBody>
      </p:sp>
    </p:spTree>
    <p:extLst>
      <p:ext uri="{BB962C8B-B14F-4D97-AF65-F5344CB8AC3E}">
        <p14:creationId xmlns:p14="http://schemas.microsoft.com/office/powerpoint/2010/main" val="27033813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D8C65-F588-3A21-4B1C-657B861CA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40670-6A9A-8359-132D-ED674C58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S4 method developed by Paul Pharoah’s lab</a:t>
            </a:r>
          </a:p>
          <a:p>
            <a:endParaRPr lang="en-US" dirty="0"/>
          </a:p>
        </p:txBody>
      </p:sp>
      <p:sp>
        <p:nvSpPr>
          <p:cNvPr id="4" name="Data 3">
            <a:extLst>
              <a:ext uri="{FF2B5EF4-FFF2-40B4-BE49-F238E27FC236}">
                <a16:creationId xmlns:a16="http://schemas.microsoft.com/office/drawing/2014/main" id="{42B0E353-945A-3ED6-D126-EC7A60F53153}"/>
              </a:ext>
            </a:extLst>
          </p:cNvPr>
          <p:cNvSpPr/>
          <p:nvPr/>
        </p:nvSpPr>
        <p:spPr>
          <a:xfrm>
            <a:off x="2480733" y="2444221"/>
            <a:ext cx="2311400" cy="1111779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External GWAS summary statistics</a:t>
            </a:r>
          </a:p>
        </p:txBody>
      </p:sp>
      <p:sp>
        <p:nvSpPr>
          <p:cNvPr id="6" name="Process 5">
            <a:extLst>
              <a:ext uri="{FF2B5EF4-FFF2-40B4-BE49-F238E27FC236}">
                <a16:creationId xmlns:a16="http://schemas.microsoft.com/office/drawing/2014/main" id="{14861830-8CDA-B597-E1EF-10AAADD0C5E6}"/>
              </a:ext>
            </a:extLst>
          </p:cNvPr>
          <p:cNvSpPr/>
          <p:nvPr/>
        </p:nvSpPr>
        <p:spPr>
          <a:xfrm>
            <a:off x="2480733" y="4123267"/>
            <a:ext cx="2015066" cy="804333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Get significant SNPs</a:t>
            </a:r>
          </a:p>
        </p:txBody>
      </p:sp>
      <p:sp>
        <p:nvSpPr>
          <p:cNvPr id="7" name="Process 6">
            <a:extLst>
              <a:ext uri="{FF2B5EF4-FFF2-40B4-BE49-F238E27FC236}">
                <a16:creationId xmlns:a16="http://schemas.microsoft.com/office/drawing/2014/main" id="{9892D56F-0B16-2962-CBE7-50D8AF8BB896}"/>
              </a:ext>
            </a:extLst>
          </p:cNvPr>
          <p:cNvSpPr/>
          <p:nvPr/>
        </p:nvSpPr>
        <p:spPr>
          <a:xfrm>
            <a:off x="2554816" y="5531645"/>
            <a:ext cx="2015066" cy="804333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Apply various shrinkages</a:t>
            </a:r>
          </a:p>
        </p:txBody>
      </p:sp>
      <p:sp>
        <p:nvSpPr>
          <p:cNvPr id="8" name="Data 7">
            <a:extLst>
              <a:ext uri="{FF2B5EF4-FFF2-40B4-BE49-F238E27FC236}">
                <a16:creationId xmlns:a16="http://schemas.microsoft.com/office/drawing/2014/main" id="{91D8D03E-CAAC-5EC2-E064-A4C75B104178}"/>
              </a:ext>
            </a:extLst>
          </p:cNvPr>
          <p:cNvSpPr/>
          <p:nvPr/>
        </p:nvSpPr>
        <p:spPr>
          <a:xfrm>
            <a:off x="5850467" y="2598737"/>
            <a:ext cx="2311400" cy="973667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AnswerALS</a:t>
            </a:r>
            <a:r>
              <a:rPr lang="en-US" dirty="0"/>
              <a:t> data</a:t>
            </a:r>
          </a:p>
        </p:txBody>
      </p:sp>
      <p:sp>
        <p:nvSpPr>
          <p:cNvPr id="9" name="Down Arrow 8">
            <a:extLst>
              <a:ext uri="{FF2B5EF4-FFF2-40B4-BE49-F238E27FC236}">
                <a16:creationId xmlns:a16="http://schemas.microsoft.com/office/drawing/2014/main" id="{FEDC8436-CC0C-2D96-DE9B-B10AB131343A}"/>
              </a:ext>
            </a:extLst>
          </p:cNvPr>
          <p:cNvSpPr/>
          <p:nvPr/>
        </p:nvSpPr>
        <p:spPr>
          <a:xfrm>
            <a:off x="3488266" y="3556000"/>
            <a:ext cx="148167" cy="56726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60F0245B-E74F-8810-0AC0-1B9C460DB775}"/>
              </a:ext>
            </a:extLst>
          </p:cNvPr>
          <p:cNvSpPr/>
          <p:nvPr/>
        </p:nvSpPr>
        <p:spPr>
          <a:xfrm>
            <a:off x="3488266" y="4931966"/>
            <a:ext cx="148167" cy="56726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6A6E2954-ED83-02CF-3BEE-AA81C364FFFE}"/>
              </a:ext>
            </a:extLst>
          </p:cNvPr>
          <p:cNvCxnSpPr>
            <a:cxnSpLocks/>
            <a:stCxn id="7" idx="3"/>
            <a:endCxn id="8" idx="2"/>
          </p:cNvCxnSpPr>
          <p:nvPr/>
        </p:nvCxnSpPr>
        <p:spPr>
          <a:xfrm flipV="1">
            <a:off x="4569882" y="3085571"/>
            <a:ext cx="1511725" cy="284824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rocess 19">
            <a:extLst>
              <a:ext uri="{FF2B5EF4-FFF2-40B4-BE49-F238E27FC236}">
                <a16:creationId xmlns:a16="http://schemas.microsoft.com/office/drawing/2014/main" id="{CFA9AD39-4BA0-CE60-EF8F-0DA505382FF5}"/>
              </a:ext>
            </a:extLst>
          </p:cNvPr>
          <p:cNvSpPr/>
          <p:nvPr/>
        </p:nvSpPr>
        <p:spPr>
          <a:xfrm>
            <a:off x="4792133" y="3928533"/>
            <a:ext cx="1363557" cy="1085454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Tune the model using S4 method</a:t>
            </a:r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8E8B51A1-3E56-3C27-1F6F-CAADCBF25EE2}"/>
              </a:ext>
            </a:extLst>
          </p:cNvPr>
          <p:cNvSpPr/>
          <p:nvPr/>
        </p:nvSpPr>
        <p:spPr>
          <a:xfrm>
            <a:off x="7941733" y="2995348"/>
            <a:ext cx="863600" cy="1439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rminator 21">
            <a:extLst>
              <a:ext uri="{FF2B5EF4-FFF2-40B4-BE49-F238E27FC236}">
                <a16:creationId xmlns:a16="http://schemas.microsoft.com/office/drawing/2014/main" id="{C325679E-5BA5-25F7-B50A-DF3EFA26EAE4}"/>
              </a:ext>
            </a:extLst>
          </p:cNvPr>
          <p:cNvSpPr/>
          <p:nvPr/>
        </p:nvSpPr>
        <p:spPr>
          <a:xfrm>
            <a:off x="8805333" y="2792148"/>
            <a:ext cx="1659467" cy="550333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PRS score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775693-BFDA-E83C-49BA-0351A44E28A1}"/>
              </a:ext>
            </a:extLst>
          </p:cNvPr>
          <p:cNvSpPr txBox="1"/>
          <p:nvPr/>
        </p:nvSpPr>
        <p:spPr>
          <a:xfrm>
            <a:off x="6654800" y="3928533"/>
            <a:ext cx="441113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Now, you can use this PRS score in a regression model and test anything you’d like –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PRS</a:t>
            </a:r>
            <a:r>
              <a:rPr lang="en-US" baseline="-25000" dirty="0" err="1"/>
              <a:t>i</a:t>
            </a:r>
            <a:r>
              <a:rPr lang="en-US" dirty="0"/>
              <a:t> ~ gene </a:t>
            </a:r>
            <a:r>
              <a:rPr lang="en-US" dirty="0" err="1"/>
              <a:t>expression</a:t>
            </a:r>
            <a:r>
              <a:rPr lang="en-US" baseline="-25000" dirty="0" err="1"/>
              <a:t>i</a:t>
            </a:r>
            <a:endParaRPr lang="en-US" baseline="-25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PRS</a:t>
            </a:r>
            <a:r>
              <a:rPr lang="en-US" baseline="-25000" dirty="0" err="1"/>
              <a:t>i</a:t>
            </a:r>
            <a:r>
              <a:rPr lang="en-US" dirty="0"/>
              <a:t> ~ protein </a:t>
            </a:r>
            <a:r>
              <a:rPr lang="en-US" dirty="0" err="1"/>
              <a:t>intensity</a:t>
            </a:r>
            <a:r>
              <a:rPr lang="en-US" baseline="-25000" dirty="0" err="1"/>
              <a:t>i</a:t>
            </a:r>
            <a:endParaRPr lang="en-US" baseline="-25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PRS</a:t>
            </a:r>
            <a:r>
              <a:rPr lang="en-US" baseline="-25000" dirty="0" err="1"/>
              <a:t>i</a:t>
            </a:r>
            <a:r>
              <a:rPr lang="en-US" dirty="0"/>
              <a:t> ~ DNA </a:t>
            </a:r>
            <a:r>
              <a:rPr lang="en-US" dirty="0" err="1"/>
              <a:t>accessibility</a:t>
            </a:r>
            <a:r>
              <a:rPr lang="en-US" baseline="-25000" dirty="0" err="1"/>
              <a:t>i</a:t>
            </a: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12847318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F839D-53E6-01E0-204D-4EAE49252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 for PRS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C834C-8FF6-02CA-7B40-36267A3C5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Nature Protocols paper - </a:t>
            </a:r>
            <a:r>
              <a:rPr lang="en-US" dirty="0">
                <a:hlinkClick r:id="rId2"/>
              </a:rPr>
              <a:t>https://www.nature.com/articles/s41596-020-0353-1</a:t>
            </a:r>
            <a:endParaRPr lang="en-US" dirty="0"/>
          </a:p>
          <a:p>
            <a:r>
              <a:rPr lang="en-US" dirty="0">
                <a:hlinkClick r:id="rId3"/>
              </a:rPr>
              <a:t>https://www.frontiersin.org/journals/genetics/articles/10.3389/fgene.2022.818574/full</a:t>
            </a:r>
            <a:endParaRPr lang="en-US" dirty="0"/>
          </a:p>
          <a:p>
            <a:r>
              <a:rPr lang="en-US" dirty="0">
                <a:hlinkClick r:id="rId4"/>
              </a:rPr>
              <a:t>https://choishingwan.github.io/PRS-Tutorial/</a:t>
            </a:r>
            <a:endParaRPr lang="en-US" dirty="0"/>
          </a:p>
          <a:p>
            <a:r>
              <a:rPr lang="en-US" dirty="0">
                <a:hlinkClick r:id="rId5"/>
              </a:rPr>
              <a:t>https://odap-ico.github.io/PRS_tutorial/</a:t>
            </a:r>
            <a:endParaRPr lang="en-US" dirty="0"/>
          </a:p>
          <a:p>
            <a:r>
              <a:rPr lang="en-US" dirty="0">
                <a:hlinkClick r:id="rId6"/>
              </a:rPr>
              <a:t>https://inflammregen.biomedcentral.com/articles/10.1186/s41232-021-00172-9</a:t>
            </a:r>
            <a:endParaRPr lang="en-US" dirty="0"/>
          </a:p>
          <a:p>
            <a:r>
              <a:rPr lang="en-US" dirty="0">
                <a:hlinkClick r:id="rId7"/>
              </a:rPr>
              <a:t>https://jordan-lab.gitbook.io/irt-for-crc/polygenic-risk-scores</a:t>
            </a:r>
            <a:endParaRPr lang="en-US" dirty="0"/>
          </a:p>
          <a:p>
            <a:r>
              <a:rPr lang="en-US" dirty="0">
                <a:hlinkClick r:id="rId8"/>
              </a:rPr>
              <a:t>https://bmcgenomics.biomedcentral.com/articles/10.1186/s12864-024-10706-3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76221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04230-8DC8-EFEC-35A6-3900A05E2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</a:t>
            </a:r>
            <a:r>
              <a:rPr lang="en-US" dirty="0" err="1"/>
              <a:t>eQTL</a:t>
            </a:r>
            <a:r>
              <a:rPr lang="en-US" dirty="0"/>
              <a:t> be conducted using </a:t>
            </a:r>
            <a:r>
              <a:rPr lang="en-US" dirty="0" err="1"/>
              <a:t>AnswerALS</a:t>
            </a:r>
            <a:r>
              <a:rPr lang="en-US" dirty="0"/>
              <a:t>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E12B2-36AD-4631-5634-2637CCFEB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YES</a:t>
            </a:r>
          </a:p>
          <a:p>
            <a:pPr>
              <a:buNone/>
            </a:pPr>
            <a:r>
              <a:rPr lang="en-US" b="1" dirty="0"/>
              <a:t>Required: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VCF file</a:t>
            </a:r>
            <a:r>
              <a:rPr lang="en-US" dirty="0"/>
              <a:t> → gives SNP genotype (e.g., 0/0, 0/1, 1/1 → 0, 1, 2) for each individual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RNA-seq expression matrix</a:t>
            </a:r>
            <a:r>
              <a:rPr lang="en-US" dirty="0"/>
              <a:t> → normalized expression values per gene per patient (TPM, FPKM, or DESeq2 normalized)</a:t>
            </a:r>
          </a:p>
          <a:p>
            <a:pPr>
              <a:buNone/>
            </a:pPr>
            <a:r>
              <a:rPr lang="en-US" b="1" dirty="0"/>
              <a:t>Goal:</a:t>
            </a:r>
          </a:p>
          <a:p>
            <a:r>
              <a:rPr lang="en-US" dirty="0"/>
              <a:t>Test whether variation at a SNP (e.g., rs12345) is associated with the expression level of a gene (e.g., SOD1).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186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72370-8C84-17E0-8097-2E5F64AD5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</a:t>
            </a:r>
            <a:r>
              <a:rPr lang="en-US" dirty="0" err="1"/>
              <a:t>pQTL</a:t>
            </a:r>
            <a:r>
              <a:rPr lang="en-US" dirty="0"/>
              <a:t> be conducted using </a:t>
            </a:r>
            <a:r>
              <a:rPr lang="en-US" dirty="0" err="1"/>
              <a:t>AnswerALS</a:t>
            </a:r>
            <a:r>
              <a:rPr lang="en-US" dirty="0"/>
              <a:t>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E403F0-02B6-C90E-4478-07DAC511F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YES</a:t>
            </a:r>
          </a:p>
          <a:p>
            <a:pPr>
              <a:buNone/>
            </a:pPr>
            <a:r>
              <a:rPr lang="en-US" b="1" dirty="0"/>
              <a:t>Required: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VCF file</a:t>
            </a:r>
            <a:r>
              <a:rPr lang="en-US" dirty="0"/>
              <a:t> → gives SNP genotype (e.g., 0/0, 0/1, 1/1 → 0, 1, 2) for each individual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Proteomics matrix</a:t>
            </a:r>
            <a:r>
              <a:rPr lang="en-US" dirty="0"/>
              <a:t> → normalized protein expression (log2-transformed intensity or abundance)</a:t>
            </a:r>
          </a:p>
          <a:p>
            <a:pPr>
              <a:buNone/>
            </a:pPr>
            <a:r>
              <a:rPr lang="en-US" b="1" dirty="0"/>
              <a:t>Goal:</a:t>
            </a:r>
          </a:p>
          <a:p>
            <a:r>
              <a:rPr lang="en-US" dirty="0"/>
              <a:t>Test whether variation at a SNP is associated with a protein's expression level (e.g., TDP-43 abundance).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76264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4805</TotalTime>
  <Words>1888</Words>
  <Application>Microsoft Macintosh PowerPoint</Application>
  <PresentationFormat>Widescreen</PresentationFormat>
  <Paragraphs>141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Mada</vt:lpstr>
      <vt:lpstr>Office Theme</vt:lpstr>
      <vt:lpstr>Further questions on ALS</vt:lpstr>
      <vt:lpstr>Is there any genetic basis for fast and slow progressors? Are there any other factors?</vt:lpstr>
      <vt:lpstr>Is there any genetic basis for fast and slow progressors? Are there any other factors?</vt:lpstr>
      <vt:lpstr>Genetic factors</vt:lpstr>
      <vt:lpstr>Data pre-processing in AnswerALS</vt:lpstr>
      <vt:lpstr>Data pre-processing - Transcriptomics</vt:lpstr>
      <vt:lpstr>Controls</vt:lpstr>
      <vt:lpstr>Data quality and batch effect assessments</vt:lpstr>
      <vt:lpstr>Data pre-processing - Epigenomics</vt:lpstr>
      <vt:lpstr>Data quality and batch effect assessments</vt:lpstr>
      <vt:lpstr>Data pre-processing - Proteomics</vt:lpstr>
      <vt:lpstr>Data quality and batch effect assessments</vt:lpstr>
      <vt:lpstr>Data pre-processing – WGS</vt:lpstr>
      <vt:lpstr>Data pre-processing - WGS</vt:lpstr>
      <vt:lpstr>PRS scores</vt:lpstr>
      <vt:lpstr>PRS scores</vt:lpstr>
      <vt:lpstr>PRS scores</vt:lpstr>
      <vt:lpstr>PRS scores</vt:lpstr>
      <vt:lpstr>Can we calculate PRS using only VCF files?</vt:lpstr>
      <vt:lpstr>Alternative method</vt:lpstr>
      <vt:lpstr>Resources for PRS</vt:lpstr>
      <vt:lpstr>Can eQTL be conducted using AnswerALS data?</vt:lpstr>
      <vt:lpstr>Can pQTL be conducted using AnswerALS data?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Bhandary, Priyanka</dc:creator>
  <cp:lastModifiedBy>Bhandary, Priyanka</cp:lastModifiedBy>
  <cp:revision>10</cp:revision>
  <dcterms:created xsi:type="dcterms:W3CDTF">2025-03-19T21:06:03Z</dcterms:created>
  <dcterms:modified xsi:type="dcterms:W3CDTF">2025-03-25T23:18:18Z</dcterms:modified>
</cp:coreProperties>
</file>