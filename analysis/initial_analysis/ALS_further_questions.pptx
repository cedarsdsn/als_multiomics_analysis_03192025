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7" r:id="rId6"/>
    <p:sldId id="260" r:id="rId7"/>
    <p:sldId id="266" r:id="rId8"/>
    <p:sldId id="265" r:id="rId9"/>
    <p:sldId id="261" r:id="rId10"/>
    <p:sldId id="268" r:id="rId11"/>
    <p:sldId id="262" r:id="rId12"/>
    <p:sldId id="269" r:id="rId13"/>
    <p:sldId id="263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580"/>
  </p:normalViewPr>
  <p:slideViewPr>
    <p:cSldViewPr snapToGrid="0">
      <p:cViewPr varScale="1">
        <p:scale>
          <a:sx n="150" d="100"/>
          <a:sy n="150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E287D-0356-B841-A213-35CF8B7F329D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ED04B-C565-D641-A136-1A72D6DB0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9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5ED04B-C565-D641-A136-1A72D6DB070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04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6BC78-0B07-0DF4-B5B0-6645B4774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0093B-E9CE-EF0B-9205-F004B210E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96FF3-7230-833C-A6F6-BD83A481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C8986-445C-A241-8ADB-D9328872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EC60-8827-1B62-3700-A9D3ACF3E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8B2C0-4C54-27CB-FC3B-AC00DF19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A8E1-CDAB-5452-147A-60DCDC33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03398-0706-F6C8-B327-31DE725B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3107F-E115-EDC3-D2F6-0A5308D9E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E110C-EC5B-B125-37B9-0178CBD6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C9A7-5DCB-318F-2E2C-FFB89E73B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792E6-FBFD-7BAE-F279-CCB18DF69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A6D92-E8DC-C00F-4C96-4E23B8C3B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EBC65-8F6D-7482-B812-540D7368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EB8CD-E70B-7BFA-CA40-A975D105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9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BAC3D-084F-15E7-A3B5-11417535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0564-2C7A-DEA0-74FC-6C3B071D5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CE14C-37E0-3ACD-68A8-79D867199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96AEB-BFB3-0521-0176-8588358B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19856-9069-5647-2D0F-817B304C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EE351-B6AE-80A5-C936-652083E7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70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3A59-D983-6D59-E5E1-A39F291F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A776F-9A34-44C3-61B0-1B594A1BF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E87D6-64BD-2EE2-DD0A-3EF117C34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C864B-1838-32CC-BB17-DB4524CA0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C1D74-59B4-5EE3-DF50-BF9D18E27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20B03-F91B-5526-C333-D2A3F8E1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7CE3F-94D6-D008-3508-FF0ABC7F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9B31C-18CF-458A-D991-9A20CB3A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95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9F74-EE00-1171-F383-4D61A485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EA9790-613E-83AB-7AF0-BAA4AF72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F5FB0-2F78-4159-DEBE-C1D2A90A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E924-3DDB-74A8-77BC-825D9041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0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7A577-08E4-EFB4-9350-90EC7E70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C1C56-8FFE-FF56-4598-D1F7D99C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CDE13-F3D2-FBAC-E55B-683BB005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5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FBA0-38FE-92A5-4211-366F9937D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E1C50-A8A9-6A56-3FF5-ED39EF224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95A85-1F9C-78A3-0E09-EAFFEA8C4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8C481-3C5A-094D-08B2-C9ABE4EA4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BC32A-70CA-1228-0966-E2F81875D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78808-89D6-AD8A-38D1-711D5A9F1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94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0863-7647-67AB-D372-87772A79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3E2F-4080-EF5B-D55A-1EA3F5EF5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E8342-1BCC-4172-D3D7-42A7B77F7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DAB4-123D-93AF-C768-E468669D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D51E2-A589-F7E8-17E2-6721D82D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7ECB3-6FFB-7893-E89A-AD174B93B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5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8008-E0B0-8785-5667-9BE82CD5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3B152-5A7F-7EF5-C2D4-4582C54CB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1C434-7F1E-FFD1-6CB9-666BCDAE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E37F-80E3-5058-F05E-D7D5C081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66B89-1D79-A19D-360E-4B31C78B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0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61EAFF-1C01-8C7E-9856-89271D0A9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659F9-6A70-7282-448B-639223D8A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2742D-29D6-FAEA-63F1-03025011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96845-45DF-2014-7C20-CFC0CE03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7DFE9-0040-5283-5D62-FFB8D93B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5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ADC92-62B2-5202-DBA8-50A2E4E62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9AA30-EB28-B106-70A7-D94EB8A87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F76CC-1893-46EB-0D3D-FDCD98A84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38A96-0825-F84B-8E34-3D1A14BC06B1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95B2A-4769-2A0D-2D6E-2E74FDC58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DFA13-4494-73E5-3A2D-4F1F9F812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3CF96-ACE1-7E41-85D1-493906D75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7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5B86-ACCB-E58C-2DC8-486EA97EBB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Further questions on 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C128A9-357B-63A7-7951-9F9CBDB87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A3A1-A770-5A4F-87B2-59815219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any genetic basis for fast and slow progressors? Are there any other factors?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89EA4-75BC-49BB-9CED-F32B0B6CA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Genetic variation</a:t>
            </a:r>
          </a:p>
          <a:p>
            <a:r>
              <a:rPr lang="en-US" dirty="0"/>
              <a:t>Age </a:t>
            </a:r>
          </a:p>
          <a:p>
            <a:r>
              <a:rPr lang="en-US" dirty="0"/>
              <a:t>The relative involvement of lower and upper motor neurons</a:t>
            </a:r>
          </a:p>
          <a:p>
            <a:r>
              <a:rPr lang="en-US" dirty="0"/>
              <a:t>Energy metabolism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93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8BB6-EFA9-E8C8-5AAE-6C00DC74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there any genetic basis for fast and slow progressors? Are there any other factors?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C422-72E7-5ADD-B249-63203F285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Younger age at onset and spinal onset – prolonged survival</a:t>
            </a:r>
          </a:p>
          <a:p>
            <a:r>
              <a:rPr lang="en-US" dirty="0"/>
              <a:t>If upper motor neurons are affected, slower progression and increased survival</a:t>
            </a:r>
          </a:p>
          <a:p>
            <a:r>
              <a:rPr lang="en-US" dirty="0"/>
              <a:t>Lower BMI at diagnosis and weight loss during disease course – shorter survival</a:t>
            </a:r>
          </a:p>
          <a:p>
            <a:r>
              <a:rPr lang="en-US" dirty="0"/>
              <a:t>Note – Weight loss mostly starts 1 decade before symptoms with motor activity</a:t>
            </a:r>
          </a:p>
        </p:txBody>
      </p:sp>
    </p:spTree>
    <p:extLst>
      <p:ext uri="{BB962C8B-B14F-4D97-AF65-F5344CB8AC3E}">
        <p14:creationId xmlns:p14="http://schemas.microsoft.com/office/powerpoint/2010/main" val="59720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28EA8-DFCC-EE2B-E0DB-546CBD494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9C21D-6691-F591-2330-2D5DC453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effectLst/>
              </a:rPr>
              <a:t>C9orf72 </a:t>
            </a:r>
            <a:r>
              <a:rPr lang="en-US" dirty="0">
                <a:effectLst/>
              </a:rPr>
              <a:t>expansions and </a:t>
            </a:r>
            <a:r>
              <a:rPr lang="en-US" i="1" dirty="0">
                <a:effectLst/>
              </a:rPr>
              <a:t>FUS </a:t>
            </a:r>
            <a:r>
              <a:rPr lang="en-US" dirty="0">
                <a:effectLst/>
              </a:rPr>
              <a:t>mutations were only found in fast progressors (Witzel et al. 2022)</a:t>
            </a:r>
          </a:p>
          <a:p>
            <a:r>
              <a:rPr lang="en-US" i="1" dirty="0"/>
              <a:t>SOD1 </a:t>
            </a:r>
            <a:r>
              <a:rPr lang="en-US" dirty="0"/>
              <a:t>mutations were frequent in both groups </a:t>
            </a:r>
            <a:r>
              <a:rPr lang="en-US" dirty="0">
                <a:effectLst/>
              </a:rPr>
              <a:t>(Witzel et al. 2022)</a:t>
            </a:r>
          </a:p>
          <a:p>
            <a:r>
              <a:rPr lang="en-US" i="1" dirty="0"/>
              <a:t>TDP-43</a:t>
            </a:r>
            <a:r>
              <a:rPr lang="en-US" dirty="0"/>
              <a:t> pathologic burden in lumbar cord was significantly associated with faster progression and reduced survival (Cathcart et al 2021)</a:t>
            </a:r>
          </a:p>
          <a:p>
            <a:r>
              <a:rPr lang="en-US" i="1" dirty="0"/>
              <a:t>C9orf72</a:t>
            </a:r>
            <a:r>
              <a:rPr lang="en-US" dirty="0"/>
              <a:t> carriers showed lower BMI, lower fasting serum glucose, and higher HDL compared to controls, </a:t>
            </a:r>
            <a:r>
              <a:rPr lang="en-US" i="1" dirty="0"/>
              <a:t>SOD1</a:t>
            </a:r>
            <a:r>
              <a:rPr lang="en-US" dirty="0"/>
              <a:t> carriers demonstrated higher BMI, higher fasting serum glucose, and lower HDL compared to healthy controls (</a:t>
            </a:r>
            <a:r>
              <a:rPr lang="en-US" dirty="0" err="1"/>
              <a:t>Tzeplaeff</a:t>
            </a:r>
            <a:r>
              <a:rPr lang="en-US" dirty="0"/>
              <a:t> 2024)</a:t>
            </a:r>
          </a:p>
          <a:p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51422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81FB-3F46-C21B-73AC-56B95AF3E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pre-processing in </a:t>
            </a:r>
            <a:r>
              <a:rPr lang="en-US" dirty="0" err="1"/>
              <a:t>AnswerALS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ED154-3900-366C-720D-898648C06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30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35B07-AB1B-7BFD-8178-A7B6CE52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 - Transcriptomics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4B141-3817-0A7A-A129-330157B53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sequencing, raw reads were subject to QC measures and reads with quality scores &gt;20 collected and analyzed</a:t>
            </a:r>
          </a:p>
          <a:p>
            <a:r>
              <a:rPr lang="en-US" dirty="0"/>
              <a:t>Reads were mapped to the GRCh38 reference genome using Hisat2, </a:t>
            </a:r>
            <a:r>
              <a:rPr lang="en-US" dirty="0" err="1"/>
              <a:t>QCed</a:t>
            </a:r>
            <a:r>
              <a:rPr lang="en-US" dirty="0"/>
              <a:t> and gene expression quantified with </a:t>
            </a:r>
            <a:r>
              <a:rPr lang="en-US" dirty="0" err="1"/>
              <a:t>featureCounts</a:t>
            </a:r>
            <a:r>
              <a:rPr lang="en-US" dirty="0"/>
              <a:t>, and differential expression was quantified using DESeq2</a:t>
            </a:r>
          </a:p>
          <a:p>
            <a:r>
              <a:rPr lang="en-US" dirty="0"/>
              <a:t>Normalized and transformed count data were also used for exploratory analysis</a:t>
            </a:r>
          </a:p>
          <a:p>
            <a:r>
              <a:rPr lang="en-US" dirty="0"/>
              <a:t>DE genes were used for pathway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6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C9DB3-AF9D-0A04-0918-F3B039F8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4AA1A-3F72-36AC-91F8-24C95ED1C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control groups –</a:t>
            </a:r>
          </a:p>
          <a:p>
            <a:r>
              <a:rPr lang="en-US" b="1" dirty="0"/>
              <a:t>Batch differentiation control (BDC) </a:t>
            </a:r>
            <a:r>
              <a:rPr lang="en-US" dirty="0"/>
              <a:t>- BDCs were differentiated with each batch from the same original line to assess </a:t>
            </a:r>
            <a:r>
              <a:rPr lang="en-US" dirty="0" err="1"/>
              <a:t>interbatch</a:t>
            </a:r>
            <a:r>
              <a:rPr lang="en-US" dirty="0"/>
              <a:t> variability of </a:t>
            </a:r>
            <a:r>
              <a:rPr lang="en-US" dirty="0" err="1"/>
              <a:t>iPS</a:t>
            </a:r>
            <a:r>
              <a:rPr lang="en-US" dirty="0"/>
              <a:t> cell differentiation</a:t>
            </a:r>
          </a:p>
          <a:p>
            <a:r>
              <a:rPr lang="en-US" b="1" dirty="0"/>
              <a:t>Batch technical control (BTC) </a:t>
            </a:r>
            <a:r>
              <a:rPr lang="en-US" dirty="0"/>
              <a:t>- BTC (Batch Technical Control) refers to a single differentiation of the same iPSC line that was frozen, aliquoted, and distributed with each batch to assess technical variability in omics assay batch runs.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08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B117-5C1C-B556-108A-1143FE23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and batch effect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95FED-C15D-5564-2DC8-80434412C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RNA-seq data, samples passed all QC metrics – RNA integrity, library and sequencing QC metrics</a:t>
            </a:r>
          </a:p>
          <a:p>
            <a:r>
              <a:rPr lang="en-US" dirty="0"/>
              <a:t>Sample to sample SERE scores generated using expression for BDCs, BTCs and all other samples</a:t>
            </a:r>
          </a:p>
          <a:p>
            <a:r>
              <a:rPr lang="en-US" dirty="0"/>
              <a:t>SERE scores measure </a:t>
            </a:r>
            <a:r>
              <a:rPr lang="en-US" b="1" dirty="0"/>
              <a:t>the consistency (reproducibility) of expression levels</a:t>
            </a:r>
            <a:r>
              <a:rPr lang="en-US" dirty="0"/>
              <a:t> across </a:t>
            </a:r>
            <a:r>
              <a:rPr lang="en-US" b="1" dirty="0"/>
              <a:t>replicates</a:t>
            </a:r>
            <a:r>
              <a:rPr lang="en-US" dirty="0"/>
              <a:t> within an experiment</a:t>
            </a:r>
          </a:p>
          <a:p>
            <a:r>
              <a:rPr lang="en-US" dirty="0"/>
              <a:t>They are used to quantify how much </a:t>
            </a:r>
            <a:r>
              <a:rPr lang="en-US" b="1" dirty="0"/>
              <a:t>technical or biological variability</a:t>
            </a:r>
            <a:r>
              <a:rPr lang="en-US" dirty="0"/>
              <a:t> is present in omics data.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01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1B6D-987E-6E98-A17D-28947FB7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 - Epigenomics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22120-4B3F-55BF-3946-01C23F74E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Sequencing quality was assessed using </a:t>
            </a:r>
            <a:r>
              <a:rPr lang="en-US" dirty="0" err="1"/>
              <a:t>FastQC</a:t>
            </a:r>
            <a:r>
              <a:rPr lang="en-US" dirty="0"/>
              <a:t> and the reads were aligned to GRCh38 genome build using Bowtie</a:t>
            </a:r>
          </a:p>
          <a:p>
            <a:r>
              <a:rPr lang="en-US" dirty="0"/>
              <a:t>Identified open chromatin regions separately for each sample using the peak-calling software MACS2 and determined differentially open sites using DESeq2</a:t>
            </a:r>
          </a:p>
          <a:p>
            <a:r>
              <a:rPr lang="en-US" dirty="0"/>
              <a:t>Peaks were assigned to unique genes using the default HOMER37 parameters, and gene ontology analysis was performed using </a:t>
            </a:r>
            <a:r>
              <a:rPr lang="en-US" dirty="0" err="1"/>
              <a:t>GOrilla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35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6F02-C76C-B385-B720-B2B5B51A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and batch effect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EE46-865A-5C42-F6E4-EA5668864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ATAC-seq data quality was determined according to ENCODE</a:t>
            </a:r>
          </a:p>
          <a:p>
            <a:r>
              <a:rPr lang="en-US" dirty="0"/>
              <a:t>Replicates from our batch control line were highly correlated with each other, with BTCs having an even smaller variation in correlation values compared with BDCs</a:t>
            </a:r>
          </a:p>
          <a:p>
            <a:r>
              <a:rPr lang="en-US" dirty="0"/>
              <a:t>Counts matrix of reads mapped to peaks in consensus </a:t>
            </a:r>
            <a:r>
              <a:rPr lang="en-US" dirty="0" err="1"/>
              <a:t>peakset</a:t>
            </a:r>
            <a:r>
              <a:rPr lang="en-US" dirty="0"/>
              <a:t> was used for hierarchical clustering</a:t>
            </a:r>
          </a:p>
          <a:p>
            <a:r>
              <a:rPr lang="en-US" dirty="0"/>
              <a:t>Subjects didn’t cluster by disease, status, sex or processing batch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02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ADB3-97EE-E1C1-DB68-D129F8FAB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 - Proteomics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B52E4-CAEA-6824-22BC-30A3E289A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Samples were acquired in DDA mode for ion library generation and in DIA mode over 100 variable windows</a:t>
            </a:r>
          </a:p>
          <a:p>
            <a:r>
              <a:rPr lang="en-US" dirty="0"/>
              <a:t>DDA data were used for the generation of a sample-specific peptide ion library.</a:t>
            </a:r>
          </a:p>
          <a:p>
            <a:r>
              <a:rPr lang="en-US" dirty="0"/>
              <a:t>DDA files were run through a trans-proteome pipeline using a human canonical FASTA file</a:t>
            </a:r>
          </a:p>
          <a:p>
            <a:r>
              <a:rPr lang="en-US" dirty="0"/>
              <a:t>A consensus peptide library with decoys was generated and used to quantify ions identified in DIA data files</a:t>
            </a:r>
          </a:p>
          <a:p>
            <a:r>
              <a:rPr lang="en-US" dirty="0"/>
              <a:t>The differential protein expression between ALS and control samples analyzed was calculated using </a:t>
            </a:r>
            <a:r>
              <a:rPr lang="en-US" dirty="0" err="1"/>
              <a:t>mapDIA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A26A2-5673-9326-5CA3-B838DBA96E8A}"/>
              </a:ext>
            </a:extLst>
          </p:cNvPr>
          <p:cNvSpPr txBox="1"/>
          <p:nvPr/>
        </p:nvSpPr>
        <p:spPr>
          <a:xfrm>
            <a:off x="720969" y="29014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1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D923-D439-5CBE-BBA9-4FA40D56C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and batch effect 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341F5-93C8-3FBF-2252-C4845C83B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percentage coefficient of variation for the proteins quantified were calculated for the BTC and BDC samples</a:t>
            </a:r>
          </a:p>
          <a:p>
            <a:r>
              <a:rPr lang="en-US" dirty="0"/>
              <a:t>BDCs and BTCs cluster tightly indicating minimal drift between the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05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A2A3-2407-61C4-BD0E-909123A24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 – WGS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D48CE-1D72-7818-13CE-649D53BA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Evaluated pathogenic or probable pathogenic variants reported in </a:t>
            </a:r>
            <a:r>
              <a:rPr lang="en-US" dirty="0" err="1"/>
              <a:t>ClinVar</a:t>
            </a:r>
            <a:r>
              <a:rPr lang="en-US" dirty="0"/>
              <a:t> (C-PLP) for all genes</a:t>
            </a:r>
          </a:p>
          <a:p>
            <a:r>
              <a:rPr lang="en-US" dirty="0"/>
              <a:t>Examined pathogenic variants called by </a:t>
            </a:r>
            <a:r>
              <a:rPr lang="en-US" dirty="0" err="1"/>
              <a:t>Intervar</a:t>
            </a:r>
            <a:r>
              <a:rPr lang="en-US" dirty="0"/>
              <a:t> Li (I-PLP) and predicted damaging variants as called by in-silico prediction tools (IS-D)</a:t>
            </a:r>
          </a:p>
          <a:p>
            <a:r>
              <a:rPr lang="en-US" dirty="0"/>
              <a:t>The variant call formats (VCFs) were converted into genomic VCFs (GVCFs), and joint genotyping calling was run using </a:t>
            </a:r>
            <a:r>
              <a:rPr lang="en-US" dirty="0" err="1"/>
              <a:t>Sentieon</a:t>
            </a:r>
            <a:r>
              <a:rPr lang="en-US" dirty="0"/>
              <a:t> v.201911; applied variant quality score recalibration (VQSR) was done using GATK v.3.8 (truth sensitivity level = 99.0), and the files were annotated using </a:t>
            </a:r>
            <a:r>
              <a:rPr lang="en-US" dirty="0" err="1"/>
              <a:t>Annovar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621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5A39-FBE9-3872-80CC-29AAE1D3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pre-processing - WGS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5963-F204-F8C7-719A-6E6ACE453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variant, incorporated functional in silico predictions from nine programs</a:t>
            </a:r>
          </a:p>
          <a:p>
            <a:r>
              <a:rPr lang="en-US" dirty="0"/>
              <a:t>Additional databases were included that assess the variant tolerance of each gene</a:t>
            </a:r>
          </a:p>
          <a:p>
            <a:r>
              <a:rPr lang="en-US" dirty="0"/>
              <a:t>For variants in genes that are highly expressed in the brain, incorporated data from the Human Protein Atlas and expression data from </a:t>
            </a:r>
            <a:r>
              <a:rPr lang="en-US" dirty="0" err="1"/>
              <a:t>GTEx</a:t>
            </a:r>
            <a:r>
              <a:rPr lang="en-US" dirty="0"/>
              <a:t> portal</a:t>
            </a:r>
          </a:p>
          <a:p>
            <a:r>
              <a:rPr lang="en-US" dirty="0"/>
              <a:t>A separate annotation pipeline was developed for variants in intergenic and regulatory regions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8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6396-3CDC-925C-95AF-28BF79CB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PRS scores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7B647-ABDA-FA69-E634-499FE96E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PRS calculation –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83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2976</TotalTime>
  <Words>829</Words>
  <Application>Microsoft Macintosh PowerPoint</Application>
  <PresentationFormat>Widescreen</PresentationFormat>
  <Paragraphs>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Further questions on ALS</vt:lpstr>
      <vt:lpstr>Is there any genetic basis for fast and slow progressors? Are there any other factors?</vt:lpstr>
      <vt:lpstr>Is there any genetic basis for fast and slow progressors? Are there any other factors?</vt:lpstr>
      <vt:lpstr>Genetic factors</vt:lpstr>
      <vt:lpstr>Data pre-processing in AnswerALS</vt:lpstr>
      <vt:lpstr>Data pre-processing - Transcriptomics</vt:lpstr>
      <vt:lpstr>Controls</vt:lpstr>
      <vt:lpstr>Data quality and batch effect assessments</vt:lpstr>
      <vt:lpstr>Data pre-processing - Epigenomics</vt:lpstr>
      <vt:lpstr>Data quality and batch effect assessments</vt:lpstr>
      <vt:lpstr>Data pre-processing - Proteomics</vt:lpstr>
      <vt:lpstr>Data quality and batch effect assessments</vt:lpstr>
      <vt:lpstr>Data pre-processing – WGS</vt:lpstr>
      <vt:lpstr>Data pre-processing - WGS</vt:lpstr>
      <vt:lpstr>PRS 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Bhandary, Priyanka</dc:creator>
  <cp:lastModifiedBy>Bhandary, Priyanka</cp:lastModifiedBy>
  <cp:revision>2</cp:revision>
  <dcterms:created xsi:type="dcterms:W3CDTF">2025-03-19T21:06:03Z</dcterms:created>
  <dcterms:modified xsi:type="dcterms:W3CDTF">2025-03-21T22:43:20Z</dcterms:modified>
</cp:coreProperties>
</file>